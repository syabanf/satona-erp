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25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91"/>
  </p:notesMasterIdLst>
  <p:sldIdLst>
    <p:sldId id="336" r:id="rId26"/>
    <p:sldId id="337" r:id="rId27"/>
    <p:sldId id="338" r:id="rId28"/>
    <p:sldId id="339" r:id="rId29"/>
    <p:sldId id="340" r:id="rId30"/>
    <p:sldId id="341" r:id="rId25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4" r:id="rId44"/>
    <p:sldId id="355" r:id="rId45"/>
    <p:sldId id="356" r:id="rId24"/>
    <p:sldId id="357" r:id="rId47"/>
    <p:sldId id="358" r:id="rId48"/>
    <p:sldId id="359" r:id="rId49"/>
    <p:sldId id="360" r:id="rId50"/>
    <p:sldId id="361" r:id="rId51"/>
    <p:sldId id="362" r:id="rId52"/>
    <p:sldId id="363" r:id="rId53"/>
    <p:sldId id="364" r:id="rId54"/>
    <p:sldId id="365" r:id="rId55"/>
  </p:sldIdLst>
  <p:sldSz cx="18288000" cy="10287000"/>
  <p:notesSz cx="6858000" cy="9144000"/>
  <p:embeddedFontLst>
    <p:embeddedFont>
      <p:font typeface="General Sans 2 Semi-Bold" charset="1" panose="00000000000000000000"/>
      <p:regular r:id="rId86"/>
    </p:embeddedFont>
    <p:embeddedFont>
      <p:font typeface="General Sans 2" charset="1" panose="00000000000000000000"/>
      <p:regular r:id="rId87"/>
    </p:embeddedFont>
    <p:embeddedFont>
      <p:font typeface="General Sans 2 Bold" charset="1" panose="00000000000000000000"/>
      <p:regular r:id="rId88"/>
    </p:embeddedFont>
    <p:embeddedFont>
      <p:font typeface="General Sans 2 Medium" charset="1" panose="00000000000000000000"/>
      <p:regular r:id="rId89"/>
    </p:embeddedFont>
    <p:embeddedFont>
      <p:font typeface="Canva Sans" charset="1" panose="020B0503030501040103"/>
      <p:regular r:id="rId90"/>
    </p:embeddedFont>
    <p:embeddedFont>
      <p:font typeface="General Sans 1 Semi-Bold" charset="1" panose="00000000000000000000"/>
      <p:regular r:id="rId98"/>
    </p:embeddedFont>
    <p:embeddedFont>
      <p:font typeface="General Sans 1" charset="1" panose="00000000000000000000"/>
      <p:regular r:id="rId99"/>
    </p:embeddedFont>
    <p:embeddedFont>
      <p:font typeface="General Sans 1 Medium" charset="1" panose="00000000000000000000"/>
      <p:regular r:id="rId10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4" Type="http://schemas.openxmlformats.org/officeDocument/2006/relationships/slide" Target="slides/slide26.xml"/><Relationship Id="rId25" Type="http://schemas.openxmlformats.org/officeDocument/2006/relationships/slide" Target="slides/slide11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3.xml"/><Relationship Id="rId54" Type="http://schemas.openxmlformats.org/officeDocument/2006/relationships/slide" Target="slides/slide34.xml"/><Relationship Id="rId55" Type="http://schemas.openxmlformats.org/officeDocument/2006/relationships/slide" Target="slides/slide35.xml"/><Relationship Id="rId86" Type="http://schemas.openxmlformats.org/officeDocument/2006/relationships/font" Target="fonts/font86.fntdata"/><Relationship Id="rId87" Type="http://schemas.openxmlformats.org/officeDocument/2006/relationships/font" Target="fonts/font87.fntdata"/><Relationship Id="rId88" Type="http://schemas.openxmlformats.org/officeDocument/2006/relationships/font" Target="fonts/font88.fntdata"/><Relationship Id="rId89" Type="http://schemas.openxmlformats.org/officeDocument/2006/relationships/font" Target="fonts/font89.fntdata"/><Relationship Id="rId90" Type="http://schemas.openxmlformats.org/officeDocument/2006/relationships/font" Target="fonts/font90.fntdata"/><Relationship Id="rId91" Type="http://schemas.openxmlformats.org/officeDocument/2006/relationships/notesMaster" Target="notesMasters/notesMaster1.xml"/><Relationship Id="rId92" Type="http://schemas.openxmlformats.org/officeDocument/2006/relationships/theme" Target="theme/theme2.xml"/><Relationship Id="rId93" Type="http://schemas.openxmlformats.org/officeDocument/2006/relationships/notesSlide" Target="notesSlides/notesSlide1.xml"/><Relationship Id="rId94" Type="http://schemas.openxmlformats.org/officeDocument/2006/relationships/notesSlide" Target="notesSlides/notesSlide2.xml"/><Relationship Id="rId95" Type="http://schemas.openxmlformats.org/officeDocument/2006/relationships/notesSlide" Target="notesSlides/notesSlide3.xml"/><Relationship Id="rId96" Type="http://schemas.openxmlformats.org/officeDocument/2006/relationships/notesSlide" Target="notesSlides/notesSlide4.xml"/><Relationship Id="rId97" Type="http://schemas.openxmlformats.org/officeDocument/2006/relationships/notesSlide" Target="notesSlides/notesSlide5.xml"/><Relationship Id="rId98" Type="http://schemas.openxmlformats.org/officeDocument/2006/relationships/font" Target="fonts/font98.fntdata"/><Relationship Id="rId99" Type="http://schemas.openxmlformats.org/officeDocument/2006/relationships/font" Target="fonts/font99.fntdata"/><Relationship Id="rId100" Type="http://schemas.openxmlformats.org/officeDocument/2006/relationships/font" Target="fonts/font100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 boundaries follow the module catalogue; the workflow service is shared because every module uses the approval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434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14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1132582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746940" y="-1254060"/>
            <a:ext cx="4794119" cy="18288000"/>
            <a:chOff x="0" y="0"/>
            <a:chExt cx="1262649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49" cy="4816592"/>
            </a:xfrm>
            <a:custGeom>
              <a:avLst/>
              <a:gdLst/>
              <a:ahLst/>
              <a:cxnLst/>
              <a:rect r="r" b="b" t="t" l="l"/>
              <a:pathLst>
                <a:path h="4816592" w="1262649">
                  <a:moveTo>
                    <a:pt x="0" y="0"/>
                  </a:moveTo>
                  <a:lnTo>
                    <a:pt x="1262649" y="0"/>
                  </a:lnTo>
                  <a:lnTo>
                    <a:pt x="126264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262649" cy="478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8144696" y="-8144696"/>
            <a:ext cx="1998608" cy="18288000"/>
            <a:chOff x="0" y="0"/>
            <a:chExt cx="526382" cy="48165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6382" cy="4816592"/>
            </a:xfrm>
            <a:custGeom>
              <a:avLst/>
              <a:gdLst/>
              <a:ahLst/>
              <a:cxnLst/>
              <a:rect r="r" b="b" t="t" l="l"/>
              <a:pathLst>
                <a:path h="4816592" w="526382">
                  <a:moveTo>
                    <a:pt x="0" y="0"/>
                  </a:moveTo>
                  <a:lnTo>
                    <a:pt x="526382" y="0"/>
                  </a:lnTo>
                  <a:lnTo>
                    <a:pt x="526382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26382" cy="478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cover_qr_box" id="9"/>
          <p:cNvGrpSpPr/>
          <p:nvPr/>
        </p:nvGrpSpPr>
        <p:grpSpPr>
          <a:xfrm rot="0">
            <a:off x="15954897" y="8294959"/>
            <a:ext cx="1304403" cy="1304403"/>
            <a:chOff x="0" y="0"/>
            <a:chExt cx="395541" cy="3955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541" cy="395541"/>
            </a:xfrm>
            <a:custGeom>
              <a:avLst/>
              <a:gdLst/>
              <a:ahLst/>
              <a:cxnLst/>
              <a:rect r="r" b="b" t="t" l="l"/>
              <a:pathLst>
                <a:path h="395541" w="395541">
                  <a:moveTo>
                    <a:pt x="136510" y="0"/>
                  </a:moveTo>
                  <a:lnTo>
                    <a:pt x="259031" y="0"/>
                  </a:lnTo>
                  <a:cubicBezTo>
                    <a:pt x="295236" y="0"/>
                    <a:pt x="329958" y="14382"/>
                    <a:pt x="355558" y="39983"/>
                  </a:cubicBezTo>
                  <a:cubicBezTo>
                    <a:pt x="381159" y="65583"/>
                    <a:pt x="395541" y="100305"/>
                    <a:pt x="395541" y="136510"/>
                  </a:cubicBezTo>
                  <a:lnTo>
                    <a:pt x="395541" y="259031"/>
                  </a:lnTo>
                  <a:cubicBezTo>
                    <a:pt x="395541" y="295236"/>
                    <a:pt x="381159" y="329958"/>
                    <a:pt x="355558" y="355558"/>
                  </a:cubicBezTo>
                  <a:cubicBezTo>
                    <a:pt x="329958" y="381159"/>
                    <a:pt x="295236" y="395541"/>
                    <a:pt x="259031" y="395541"/>
                  </a:cubicBezTo>
                  <a:lnTo>
                    <a:pt x="136510" y="395541"/>
                  </a:lnTo>
                  <a:cubicBezTo>
                    <a:pt x="100305" y="395541"/>
                    <a:pt x="65583" y="381159"/>
                    <a:pt x="39983" y="355558"/>
                  </a:cubicBezTo>
                  <a:cubicBezTo>
                    <a:pt x="14382" y="329958"/>
                    <a:pt x="0" y="295236"/>
                    <a:pt x="0" y="259031"/>
                  </a:cubicBezTo>
                  <a:lnTo>
                    <a:pt x="0" y="136510"/>
                  </a:lnTo>
                  <a:cubicBezTo>
                    <a:pt x="0" y="100305"/>
                    <a:pt x="14382" y="65583"/>
                    <a:pt x="39983" y="39983"/>
                  </a:cubicBezTo>
                  <a:cubicBezTo>
                    <a:pt x="65583" y="14382"/>
                    <a:pt x="100305" y="0"/>
                    <a:pt x="1365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95541" cy="366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cover_qr" id="12"/>
          <p:cNvSpPr/>
          <p:nvPr/>
        </p:nvSpPr>
        <p:spPr>
          <a:xfrm flipH="false" flipV="false" rot="0">
            <a:off x="16073289" y="8409952"/>
            <a:ext cx="1067618" cy="1074416"/>
          </a:xfrm>
          <a:custGeom>
            <a:avLst/>
            <a:gdLst/>
            <a:ahLst/>
            <a:cxnLst/>
            <a:rect r="r" b="b" t="t" l="l"/>
            <a:pathLst>
              <a:path h="1074416" w="1067618">
                <a:moveTo>
                  <a:pt x="0" y="0"/>
                </a:moveTo>
                <a:lnTo>
                  <a:pt x="1067618" y="0"/>
                </a:lnTo>
                <a:lnTo>
                  <a:pt x="1067618" y="1074417"/>
                </a:lnTo>
                <a:lnTo>
                  <a:pt x="0" y="1074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8" t="0" r="-318" b="0"/>
            </a:stretch>
          </a:blipFill>
        </p:spPr>
      </p:sp>
      <p:grpSp>
        <p:nvGrpSpPr>
          <p:cNvPr name="cover_badge_box" id="13"/>
          <p:cNvGrpSpPr/>
          <p:nvPr/>
        </p:nvGrpSpPr>
        <p:grpSpPr>
          <a:xfrm rot="0">
            <a:off x="929564" y="6850079"/>
            <a:ext cx="4432842" cy="522240"/>
            <a:chOff x="0" y="0"/>
            <a:chExt cx="6367603" cy="10720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7603" cy="1072038"/>
            </a:xfrm>
            <a:custGeom>
              <a:avLst/>
              <a:gdLst/>
              <a:ahLst/>
              <a:cxnLst/>
              <a:rect r="r" b="b" t="t" l="l"/>
              <a:pathLst>
                <a:path h="1072038" w="6367603">
                  <a:moveTo>
                    <a:pt x="249582" y="0"/>
                  </a:moveTo>
                  <a:lnTo>
                    <a:pt x="6118022" y="0"/>
                  </a:lnTo>
                  <a:cubicBezTo>
                    <a:pt x="6255862" y="0"/>
                    <a:pt x="6367603" y="111742"/>
                    <a:pt x="6367603" y="249582"/>
                  </a:cubicBezTo>
                  <a:lnTo>
                    <a:pt x="6367603" y="822456"/>
                  </a:lnTo>
                  <a:cubicBezTo>
                    <a:pt x="6367603" y="888649"/>
                    <a:pt x="6341308" y="952131"/>
                    <a:pt x="6294503" y="998937"/>
                  </a:cubicBezTo>
                  <a:cubicBezTo>
                    <a:pt x="6247697" y="1045743"/>
                    <a:pt x="6184215" y="1072038"/>
                    <a:pt x="6118022" y="1072038"/>
                  </a:cubicBezTo>
                  <a:lnTo>
                    <a:pt x="249582" y="1072038"/>
                  </a:lnTo>
                  <a:cubicBezTo>
                    <a:pt x="111742" y="1072038"/>
                    <a:pt x="0" y="960296"/>
                    <a:pt x="0" y="822456"/>
                  </a:cubicBezTo>
                  <a:lnTo>
                    <a:pt x="0" y="249582"/>
                  </a:lnTo>
                  <a:cubicBezTo>
                    <a:pt x="0" y="183388"/>
                    <a:pt x="26295" y="119906"/>
                    <a:pt x="73101" y="73101"/>
                  </a:cubicBezTo>
                  <a:cubicBezTo>
                    <a:pt x="119906" y="26295"/>
                    <a:pt x="183388" y="0"/>
                    <a:pt x="2495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ln w="9525" cap="rnd">
              <a:solidFill>
                <a:srgbClr val="ECECEC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6367603" cy="106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29564" y="744208"/>
            <a:ext cx="2483242" cy="776749"/>
          </a:xfrm>
          <a:custGeom>
            <a:avLst/>
            <a:gdLst/>
            <a:ahLst/>
            <a:cxnLst/>
            <a:rect r="r" b="b" t="t" l="l"/>
            <a:pathLst>
              <a:path h="776749" w="2483242">
                <a:moveTo>
                  <a:pt x="0" y="0"/>
                </a:moveTo>
                <a:lnTo>
                  <a:pt x="2483242" y="0"/>
                </a:lnTo>
                <a:lnTo>
                  <a:pt x="2483242" y="776748"/>
                </a:lnTo>
                <a:lnTo>
                  <a:pt x="0" y="776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0" y="7877639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cover_title" id="18"/>
          <p:cNvSpPr txBox="true"/>
          <p:nvPr/>
        </p:nvSpPr>
        <p:spPr>
          <a:xfrm rot="0">
            <a:off x="929564" y="8074152"/>
            <a:ext cx="8138160" cy="152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45"/>
              </a:lnSpc>
            </a:pPr>
            <a:r>
              <a:rPr lang="en-US" b="true" sz="5535" spc="-276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Satona ERP</a:t>
            </a:r>
          </a:p>
          <a:p>
            <a:pPr algn="l" marL="0" indent="0" lvl="1">
              <a:lnSpc>
                <a:spcPts val="5645"/>
              </a:lnSpc>
            </a:pPr>
            <a:r>
              <a:rPr lang="en-US" b="true" sz="5535" spc="-276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Group Console</a:t>
            </a:r>
            <a:r>
              <a:rPr lang="en-US" b="true" sz="5535" spc="-276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name="cover_qr_url" id="19"/>
          <p:cNvSpPr txBox="true"/>
          <p:nvPr/>
        </p:nvSpPr>
        <p:spPr>
          <a:xfrm rot="0">
            <a:off x="13889694" y="9378900"/>
            <a:ext cx="1463582" cy="22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3"/>
              </a:lnSpc>
              <a:spcBef>
                <a:spcPct val="0"/>
              </a:spcBef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www.wit.id</a:t>
            </a:r>
          </a:p>
        </p:txBody>
      </p:sp>
      <p:sp>
        <p:nvSpPr>
          <p:cNvPr name="cover_qr_l1" id="20"/>
          <p:cNvSpPr txBox="true"/>
          <p:nvPr/>
        </p:nvSpPr>
        <p:spPr>
          <a:xfrm rot="0">
            <a:off x="13889694" y="8304484"/>
            <a:ext cx="1463582" cy="22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3"/>
              </a:lnSpc>
              <a:spcBef>
                <a:spcPct val="0"/>
              </a:spcBef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Scan QR Code</a:t>
            </a:r>
          </a:p>
        </p:txBody>
      </p:sp>
      <p:sp>
        <p:nvSpPr>
          <p:cNvPr name="cover_qr_l2" id="21"/>
          <p:cNvSpPr txBox="true"/>
          <p:nvPr/>
        </p:nvSpPr>
        <p:spPr>
          <a:xfrm rot="0">
            <a:off x="13889694" y="8537389"/>
            <a:ext cx="1463582" cy="52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3"/>
              </a:lnSpc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to see more detail.</a:t>
            </a:r>
          </a:p>
        </p:txBody>
      </p:sp>
      <p:sp>
        <p:nvSpPr>
          <p:cNvPr name="cover_badge" id="22"/>
          <p:cNvSpPr txBox="true"/>
          <p:nvPr/>
        </p:nvSpPr>
        <p:spPr>
          <a:xfrm rot="0">
            <a:off x="1105954" y="6929507"/>
            <a:ext cx="4085370" cy="31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6"/>
              </a:lnSpc>
              <a:spcBef>
                <a:spcPct val="0"/>
              </a:spcBef>
            </a:pPr>
            <a:r>
              <a:rPr lang="en-US" b="true" sz="1818" spc="18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 xml:space="preserve">Product walkthrough </a:t>
            </a:r>
            <a:r>
              <a:rPr lang="en-US" sz="1818" spc="1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October 2026</a:t>
            </a:r>
          </a:p>
        </p:txBody>
      </p:sp>
      <p:sp>
        <p:nvSpPr>
          <p:cNvPr name="cover_strap" id="23"/>
          <p:cNvSpPr txBox="true"/>
          <p:nvPr/>
        </p:nvSpPr>
        <p:spPr>
          <a:xfrm rot="0">
            <a:off x="11983670" y="739420"/>
            <a:ext cx="5275630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99"/>
              </a:lnSpc>
              <a:spcBef>
                <a:spcPct val="0"/>
              </a:spcBef>
            </a:pPr>
            <a:r>
              <a:rPr lang="en-US" sz="1799" spc="-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Make IT Happen</a:t>
            </a:r>
          </a:p>
        </p:txBody>
      </p:sp>
      <p:sp>
        <p:nvSpPr>
          <p:cNvPr name="cover_tagline" id="24"/>
          <p:cNvSpPr txBox="true"/>
          <p:nvPr/>
        </p:nvSpPr>
        <p:spPr>
          <a:xfrm rot="0">
            <a:off x="9234159" y="739420"/>
            <a:ext cx="5134064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9"/>
              </a:lnSpc>
              <a:spcBef>
                <a:spcPct val="0"/>
              </a:spcBef>
            </a:pPr>
            <a:r>
              <a:rPr lang="en-US" sz="1799" spc="-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360° Digital Transformation Culture Company</a:t>
            </a:r>
          </a:p>
        </p:txBody>
      </p:sp>
      <p:sp>
        <p:nvSpPr>
          <p:cNvPr name="cover_notice1" id="25"/>
          <p:cNvSpPr txBox="true"/>
          <p:nvPr/>
        </p:nvSpPr>
        <p:spPr>
          <a:xfrm rot="0">
            <a:off x="9234159" y="8247334"/>
            <a:ext cx="3177434" cy="5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  <a:spcBef>
                <a:spcPct val="0"/>
              </a:spcBef>
            </a:pPr>
            <a:r>
              <a:rPr lang="en-US" sz="1437" spc="14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This document only applies to your collaboration with WIT.ID</a:t>
            </a:r>
          </a:p>
        </p:txBody>
      </p:sp>
      <p:sp>
        <p:nvSpPr>
          <p:cNvPr name="cover_notice2" id="26"/>
          <p:cNvSpPr txBox="true"/>
          <p:nvPr/>
        </p:nvSpPr>
        <p:spPr>
          <a:xfrm rot="0">
            <a:off x="9234159" y="9066917"/>
            <a:ext cx="3931636" cy="5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  <a:spcBef>
                <a:spcPct val="0"/>
              </a:spcBef>
            </a:pPr>
            <a:r>
              <a:rPr lang="en-US" sz="1437" spc="14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And please do not spread and use it for things outside of this collaboration.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202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0" y="-3066150"/>
            <a:ext cx="18288000" cy="18333835"/>
          </a:xfrm>
          <a:custGeom>
            <a:avLst/>
            <a:gdLst/>
            <a:ahLst/>
            <a:cxnLst/>
            <a:rect r="r" b="b" t="t" l="l"/>
            <a:pathLst>
              <a:path h="18333835" w="18288000">
                <a:moveTo>
                  <a:pt x="18288000" y="0"/>
                </a:moveTo>
                <a:lnTo>
                  <a:pt x="0" y="0"/>
                </a:lnTo>
                <a:lnTo>
                  <a:pt x="0" y="18333834"/>
                </a:lnTo>
                <a:lnTo>
                  <a:pt x="18288000" y="18333834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77416" y="-6402805"/>
            <a:ext cx="19840761" cy="19840761"/>
          </a:xfrm>
          <a:custGeom>
            <a:avLst/>
            <a:gdLst/>
            <a:ahLst/>
            <a:cxnLst/>
            <a:rect r="r" b="b" t="t" l="l"/>
            <a:pathLst>
              <a:path h="19840761" w="19840761">
                <a:moveTo>
                  <a:pt x="0" y="0"/>
                </a:moveTo>
                <a:lnTo>
                  <a:pt x="19840761" y="0"/>
                </a:lnTo>
                <a:lnTo>
                  <a:pt x="19840761" y="19840761"/>
                </a:lnTo>
                <a:lnTo>
                  <a:pt x="0" y="19840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243712" y="3908100"/>
            <a:ext cx="14842406" cy="14842406"/>
          </a:xfrm>
          <a:custGeom>
            <a:avLst/>
            <a:gdLst/>
            <a:ahLst/>
            <a:cxnLst/>
            <a:rect r="r" b="b" t="t" l="l"/>
            <a:pathLst>
              <a:path h="14842406" w="14842406">
                <a:moveTo>
                  <a:pt x="0" y="0"/>
                </a:moveTo>
                <a:lnTo>
                  <a:pt x="14842406" y="0"/>
                </a:lnTo>
                <a:lnTo>
                  <a:pt x="14842406" y="14842406"/>
                </a:lnTo>
                <a:lnTo>
                  <a:pt x="0" y="14842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10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18">
                  <a:solidFill>
                    <a:srgbClr val="FFFFFF"/>
                  </a:solidFill>
                  <a:latin typeface="General Sans 2 Medium"/>
                  <a:ea typeface="General Sans 2 Medium"/>
                  <a:cs typeface="General Sans 2 Medium"/>
                  <a:sym typeface="General Sans 2 Medium"/>
                </a:rPr>
                <a:t>Summary</a:t>
              </a:r>
            </a:p>
          </p:txBody>
        </p:sp>
      </p:grpSp>
      <p:sp>
        <p:nvSpPr>
          <p:cNvPr name="agenda_circle" id="23"/>
          <p:cNvSpPr/>
          <p:nvPr/>
        </p:nvSpPr>
        <p:spPr>
          <a:xfrm flipH="false" flipV="false" rot="0">
            <a:off x="4590288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27"/>
          <p:cNvSpPr/>
          <p:nvPr/>
        </p:nvSpPr>
        <p:spPr>
          <a:xfrm flipH="false" flipV="false" rot="0">
            <a:off x="7955279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31"/>
          <p:cNvSpPr/>
          <p:nvPr/>
        </p:nvSpPr>
        <p:spPr>
          <a:xfrm flipH="false" flipV="false" rot="0">
            <a:off x="11311128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35"/>
          <p:cNvSpPr/>
          <p:nvPr/>
        </p:nvSpPr>
        <p:spPr>
          <a:xfrm flipH="false" flipV="false" rot="0">
            <a:off x="14676120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39"/>
          <p:cNvSpPr/>
          <p:nvPr/>
        </p:nvSpPr>
        <p:spPr>
          <a:xfrm flipH="false" flipV="false" rot="0">
            <a:off x="7955279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43"/>
          <p:cNvSpPr/>
          <p:nvPr/>
        </p:nvSpPr>
        <p:spPr>
          <a:xfrm flipH="false" flipV="false" rot="0">
            <a:off x="11311128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47"/>
          <p:cNvSpPr/>
          <p:nvPr/>
        </p:nvSpPr>
        <p:spPr>
          <a:xfrm flipH="false" flipV="false" rot="0">
            <a:off x="14676120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tr_left" id="20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sp>
        <p:nvSpPr>
          <p:cNvPr name="agenda_title" id="22"/>
          <p:cNvSpPr txBox="true"/>
          <p:nvPr/>
        </p:nvSpPr>
        <p:spPr>
          <a:xfrm rot="0">
            <a:off x="942844" y="1640025"/>
            <a:ext cx="3383280" cy="172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b="true" sz="3476" spc="-2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WHAT THIS</a:t>
            </a:r>
          </a:p>
          <a:p>
            <a:pPr algn="l">
              <a:lnSpc>
                <a:spcPts val="3476"/>
              </a:lnSpc>
              <a:spcBef>
                <a:spcPct val="0"/>
              </a:spcBef>
            </a:pPr>
            <a:r>
              <a:rPr lang="en-US" b="true" sz="3476" spc="-2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DECK COVERS</a:t>
            </a:r>
            <a:r>
              <a:rPr lang="en-US" b="true" sz="3476" spc="-2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24" name="Agenda label 24"/>
          <p:cNvSpPr txBox="1"/>
          <p:nvPr/>
        </p:nvSpPr>
        <p:spPr>
          <a:xfrm>
            <a:off x="4937759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CONTEXT.</a:t>
            </a:r>
          </a:p>
        </p:txBody>
      </p:sp>
      <p:sp>
        <p:nvSpPr>
          <p:cNvPr id="25" name="Agenda desc 25"/>
          <p:cNvSpPr txBox="1"/>
          <p:nvPr/>
        </p:nvSpPr>
        <p:spPr>
          <a:xfrm>
            <a:off x="4983479" y="2642616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One ERP for a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logistics, fertiliser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and chemicals group</a:t>
            </a:r>
          </a:p>
        </p:txBody>
      </p:sp>
      <p:sp>
        <p:nvSpPr>
          <p:cNvPr id="26" name="Agenda ref 26"/>
          <p:cNvSpPr txBox="1"/>
          <p:nvPr/>
        </p:nvSpPr>
        <p:spPr>
          <a:xfrm>
            <a:off x="5074919" y="34381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3-4</a:t>
            </a:r>
          </a:p>
        </p:txBody>
      </p:sp>
      <p:sp>
        <p:nvSpPr>
          <p:cNvPr id="28" name="Agenda label 28"/>
          <p:cNvSpPr txBox="1"/>
          <p:nvPr/>
        </p:nvSpPr>
        <p:spPr>
          <a:xfrm>
            <a:off x="8302751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EASE.</a:t>
            </a:r>
          </a:p>
        </p:txBody>
      </p:sp>
      <p:sp>
        <p:nvSpPr>
          <p:cNvPr id="29" name="Agenda desc 29"/>
          <p:cNvSpPr txBox="1"/>
          <p:nvPr/>
        </p:nvSpPr>
        <p:spPr>
          <a:xfrm>
            <a:off x="8348471" y="26426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Search, drawer and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charts that open records</a:t>
            </a:r>
          </a:p>
        </p:txBody>
      </p:sp>
      <p:sp>
        <p:nvSpPr>
          <p:cNvPr id="30" name="Agenda ref 30"/>
          <p:cNvSpPr txBox="1"/>
          <p:nvPr/>
        </p:nvSpPr>
        <p:spPr>
          <a:xfrm>
            <a:off x="8439911" y="32095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5-9</a:t>
            </a:r>
          </a:p>
        </p:txBody>
      </p:sp>
      <p:sp>
        <p:nvSpPr>
          <p:cNvPr id="32" name="Agenda label 32"/>
          <p:cNvSpPr txBox="1"/>
          <p:nvPr/>
        </p:nvSpPr>
        <p:spPr>
          <a:xfrm>
            <a:off x="11658599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OPERATIONS.</a:t>
            </a:r>
          </a:p>
        </p:txBody>
      </p:sp>
      <p:sp>
        <p:nvSpPr>
          <p:cNvPr id="33" name="Agenda desc 33"/>
          <p:cNvSpPr txBox="1"/>
          <p:nvPr/>
        </p:nvSpPr>
        <p:spPr>
          <a:xfrm>
            <a:off x="11704319" y="26426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Fleet, plants, tank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farm and SHE / K3</a:t>
            </a:r>
          </a:p>
        </p:txBody>
      </p:sp>
      <p:sp>
        <p:nvSpPr>
          <p:cNvPr id="34" name="Agenda ref 34"/>
          <p:cNvSpPr txBox="1"/>
          <p:nvPr/>
        </p:nvSpPr>
        <p:spPr>
          <a:xfrm>
            <a:off x="11795759" y="32095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10-17</a:t>
            </a:r>
          </a:p>
        </p:txBody>
      </p:sp>
      <p:sp>
        <p:nvSpPr>
          <p:cNvPr id="36" name="Agenda label 36"/>
          <p:cNvSpPr txBox="1"/>
          <p:nvPr/>
        </p:nvSpPr>
        <p:spPr>
          <a:xfrm>
            <a:off x="15023592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SERVICES.</a:t>
            </a:r>
          </a:p>
        </p:txBody>
      </p:sp>
      <p:sp>
        <p:nvSpPr>
          <p:cNvPr id="37" name="Agenda desc 37"/>
          <p:cNvSpPr txBox="1"/>
          <p:nvPr/>
        </p:nvSpPr>
        <p:spPr>
          <a:xfrm>
            <a:off x="15069312" y="26426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HRIS, finance and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approval control</a:t>
            </a:r>
          </a:p>
        </p:txBody>
      </p:sp>
      <p:sp>
        <p:nvSpPr>
          <p:cNvPr id="38" name="Agenda ref 38"/>
          <p:cNvSpPr txBox="1"/>
          <p:nvPr/>
        </p:nvSpPr>
        <p:spPr>
          <a:xfrm>
            <a:off x="15160752" y="32095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18-22</a:t>
            </a:r>
          </a:p>
        </p:txBody>
      </p:sp>
      <p:sp>
        <p:nvSpPr>
          <p:cNvPr id="40" name="Agenda label 40"/>
          <p:cNvSpPr txBox="1"/>
          <p:nvPr/>
        </p:nvSpPr>
        <p:spPr>
          <a:xfrm>
            <a:off x="8302751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DELIVERY.</a:t>
            </a:r>
          </a:p>
        </p:txBody>
      </p:sp>
      <p:sp>
        <p:nvSpPr>
          <p:cNvPr id="41" name="Agenda desc 41"/>
          <p:cNvSpPr txBox="1"/>
          <p:nvPr/>
        </p:nvSpPr>
        <p:spPr>
          <a:xfrm>
            <a:off x="8348471" y="573328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Scrum SDLC from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backlog to release</a:t>
            </a:r>
          </a:p>
        </p:txBody>
      </p:sp>
      <p:sp>
        <p:nvSpPr>
          <p:cNvPr id="42" name="Agenda ref 42"/>
          <p:cNvSpPr txBox="1"/>
          <p:nvPr/>
        </p:nvSpPr>
        <p:spPr>
          <a:xfrm>
            <a:off x="8439911" y="63002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23-25</a:t>
            </a:r>
          </a:p>
        </p:txBody>
      </p:sp>
      <p:sp>
        <p:nvSpPr>
          <p:cNvPr id="44" name="Agenda label 44"/>
          <p:cNvSpPr txBox="1"/>
          <p:nvPr/>
        </p:nvSpPr>
        <p:spPr>
          <a:xfrm>
            <a:off x="11658599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1961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ARCHITECTURE.</a:t>
            </a:r>
          </a:p>
        </p:txBody>
      </p:sp>
      <p:sp>
        <p:nvSpPr>
          <p:cNvPr id="45" name="Agenda desc 45"/>
          <p:cNvSpPr txBox="1"/>
          <p:nvPr/>
        </p:nvSpPr>
        <p:spPr>
          <a:xfrm>
            <a:off x="11704319" y="573328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Ready to split into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microservices</a:t>
            </a:r>
          </a:p>
        </p:txBody>
      </p:sp>
      <p:sp>
        <p:nvSpPr>
          <p:cNvPr id="46" name="Agenda ref 46"/>
          <p:cNvSpPr txBox="1"/>
          <p:nvPr/>
        </p:nvSpPr>
        <p:spPr>
          <a:xfrm>
            <a:off x="11795759" y="63002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26-27</a:t>
            </a:r>
          </a:p>
        </p:txBody>
      </p:sp>
      <p:sp>
        <p:nvSpPr>
          <p:cNvPr id="48" name="Agenda label 48"/>
          <p:cNvSpPr txBox="1"/>
          <p:nvPr/>
        </p:nvSpPr>
        <p:spPr>
          <a:xfrm>
            <a:off x="15023592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PLANNING.</a:t>
            </a:r>
          </a:p>
        </p:txBody>
      </p:sp>
      <p:sp>
        <p:nvSpPr>
          <p:cNvPr id="49" name="Agenda desc 49"/>
          <p:cNvSpPr txBox="1"/>
          <p:nvPr/>
        </p:nvSpPr>
        <p:spPr>
          <a:xfrm>
            <a:off x="15069312" y="573328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Releases, sprints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and squads</a:t>
            </a:r>
          </a:p>
        </p:txBody>
      </p:sp>
      <p:sp>
        <p:nvSpPr>
          <p:cNvPr id="50" name="Agenda ref 50"/>
          <p:cNvSpPr txBox="1"/>
          <p:nvPr/>
        </p:nvSpPr>
        <p:spPr>
          <a:xfrm>
            <a:off x="15160752" y="63002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28-29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CONTEXT. The group</a:t>
              </a:r>
            </a:p>
          </p:txBody>
        </p:sp>
      </p:grpSp>
      <p:pic>
        <p:nvPicPr>
          <p:cNvPr id="56" name="Art erp-manufacturing-retail" descr="erp-manufacturing-ret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02920" y="2642309"/>
            <a:ext cx="9418320" cy="5294988"/>
          </a:xfrm>
          <a:prstGeom prst="rect">
            <a:avLst/>
          </a:prstGeom>
        </p:spPr>
      </p:pic>
      <p:sp>
        <p:nvSpPr>
          <p:cNvPr id="57" name="Title 57"/>
          <p:cNvSpPr txBox="1"/>
          <p:nvPr/>
        </p:nvSpPr>
        <p:spPr>
          <a:xfrm>
            <a:off x="9144000" y="1243584"/>
            <a:ext cx="8202168" cy="1312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7"/>
              </a:lnSpc>
            </a:pPr>
            <a:r>
              <a:rPr lang="en-US" sz="418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One ERP for a</a:t>
            </a:r>
          </a:p>
          <a:p>
            <a:pPr algn="l">
              <a:lnSpc>
                <a:spcPts val="4807"/>
              </a:lnSpc>
            </a:pPr>
            <a:r>
              <a:rPr lang="en-US" sz="418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chemical group</a:t>
            </a:r>
            <a:r>
              <a:rPr lang="en-US" sz="418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8" name="Card 58"/>
          <p:cNvSpPr/>
          <p:nvPr/>
        </p:nvSpPr>
        <p:spPr>
          <a:xfrm>
            <a:off x="9144000" y="3187572"/>
            <a:ext cx="8202168" cy="2545080"/>
          </a:xfrm>
          <a:prstGeom prst="roundRect">
            <a:avLst>
              <a:gd name="adj" fmla="val 3592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9" name="Card head 59"/>
          <p:cNvSpPr txBox="1"/>
          <p:nvPr/>
        </p:nvSpPr>
        <p:spPr>
          <a:xfrm>
            <a:off x="9509760" y="3489324"/>
            <a:ext cx="7470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21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Four companies, one console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4130166"/>
            <a:ext cx="175260" cy="175260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9867900" y="4074541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Satona Holding: master data, finance, procurement, governance, BI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4489831"/>
            <a:ext cx="175260" cy="175260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9867900" y="4434205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Rotama: tanker fleet, warehouses and dangerous-goods transport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4849495"/>
            <a:ext cx="175260" cy="175260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9867900" y="4793869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Rodame: NPK and urea plants, MES, maintenance, distributors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5209159"/>
            <a:ext cx="175260" cy="175260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9867900" y="5153533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Roasi: continuous chemical process, tank farm, genealogy</a:t>
            </a:r>
          </a:p>
        </p:txBody>
      </p:sp>
      <p:sp>
        <p:nvSpPr>
          <p:cNvPr id="68" name="Card 68"/>
          <p:cNvSpPr/>
          <p:nvPr/>
        </p:nvSpPr>
        <p:spPr>
          <a:xfrm>
            <a:off x="9144000" y="5961253"/>
            <a:ext cx="8202168" cy="2185416"/>
          </a:xfrm>
          <a:prstGeom prst="roundRect">
            <a:avLst>
              <a:gd name="adj" fmla="val 4184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69" name="Card head 69"/>
          <p:cNvSpPr txBox="1"/>
          <p:nvPr/>
        </p:nvSpPr>
        <p:spPr>
          <a:xfrm>
            <a:off x="9509760" y="6263005"/>
            <a:ext cx="7470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21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Shared services across the group</a:t>
            </a:r>
          </a:p>
        </p:txBody>
      </p:sp>
      <p:pic>
        <p:nvPicPr>
          <p:cNvPr id="70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6903846"/>
            <a:ext cx="175260" cy="175260"/>
          </a:xfrm>
          <a:prstGeom prst="rect">
            <a:avLst/>
          </a:prstGeom>
        </p:spPr>
      </p:pic>
      <p:sp>
        <p:nvSpPr>
          <p:cNvPr id="71" name="Bullet 71"/>
          <p:cNvSpPr txBox="1"/>
          <p:nvPr/>
        </p:nvSpPr>
        <p:spPr>
          <a:xfrm>
            <a:off x="9867900" y="6848221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HRIS, finance and accounting, purchasing and inventory</a:t>
            </a:r>
          </a:p>
        </p:txBody>
      </p:sp>
      <p:pic>
        <p:nvPicPr>
          <p:cNvPr id="72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7263511"/>
            <a:ext cx="175260" cy="175260"/>
          </a:xfrm>
          <a:prstGeom prst="rect">
            <a:avLst/>
          </a:prstGeom>
        </p:spPr>
      </p:pic>
      <p:sp>
        <p:nvSpPr>
          <p:cNvPr id="73" name="Bullet 73"/>
          <p:cNvSpPr txBox="1"/>
          <p:nvPr/>
        </p:nvSpPr>
        <p:spPr>
          <a:xfrm>
            <a:off x="9867900" y="7207885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SHE / K3 management for every plant and depot</a:t>
            </a:r>
          </a:p>
        </p:txBody>
      </p:sp>
      <p:pic>
        <p:nvPicPr>
          <p:cNvPr id="74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7623175"/>
            <a:ext cx="175260" cy="175260"/>
          </a:xfrm>
          <a:prstGeom prst="rect">
            <a:avLst/>
          </a:prstGeom>
        </p:spPr>
      </p:pic>
      <p:sp>
        <p:nvSpPr>
          <p:cNvPr id="75" name="Bullet 75"/>
          <p:cNvSpPr txBox="1"/>
          <p:nvPr/>
        </p:nvSpPr>
        <p:spPr>
          <a:xfrm>
            <a:off x="9867900" y="7567549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System administration with a multilevel approval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4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PLATFORM. In numbers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Built from the scope and user matrix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Stat tile 57"/>
          <p:cNvSpPr/>
          <p:nvPr/>
        </p:nvSpPr>
        <p:spPr>
          <a:xfrm>
            <a:off x="932688" y="2651760"/>
            <a:ext cx="3897630" cy="2331720"/>
          </a:xfrm>
          <a:prstGeom prst="roundRect">
            <a:avLst>
              <a:gd name="adj" fmla="val 3921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at value 58"/>
          <p:cNvSpPr txBox="1"/>
          <p:nvPr/>
        </p:nvSpPr>
        <p:spPr>
          <a:xfrm>
            <a:off x="1344168" y="2971800"/>
            <a:ext cx="307467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4</a:t>
            </a:r>
          </a:p>
        </p:txBody>
      </p:sp>
      <p:sp>
        <p:nvSpPr>
          <p:cNvPr id="59" name="Stat label 59"/>
          <p:cNvSpPr txBox="1"/>
          <p:nvPr/>
        </p:nvSpPr>
        <p:spPr>
          <a:xfrm>
            <a:off x="1344168" y="434340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Companies in the group</a:t>
            </a:r>
          </a:p>
        </p:txBody>
      </p:sp>
      <p:sp>
        <p:nvSpPr>
          <p:cNvPr id="60" name="Stat tile 60"/>
          <p:cNvSpPr/>
          <p:nvPr/>
        </p:nvSpPr>
        <p:spPr>
          <a:xfrm>
            <a:off x="5104638" y="2651760"/>
            <a:ext cx="3897630" cy="2331720"/>
          </a:xfrm>
          <a:prstGeom prst="roundRect">
            <a:avLst>
              <a:gd name="adj" fmla="val 3921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61" name="Stat value 61"/>
          <p:cNvSpPr txBox="1"/>
          <p:nvPr/>
        </p:nvSpPr>
        <p:spPr>
          <a:xfrm>
            <a:off x="5516118" y="2971800"/>
            <a:ext cx="307467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26</a:t>
            </a:r>
          </a:p>
        </p:txBody>
      </p:sp>
      <p:sp>
        <p:nvSpPr>
          <p:cNvPr id="62" name="Stat label 62"/>
          <p:cNvSpPr txBox="1"/>
          <p:nvPr/>
        </p:nvSpPr>
        <p:spPr>
          <a:xfrm>
            <a:off x="5516118" y="434340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Modules</a:t>
            </a:r>
          </a:p>
        </p:txBody>
      </p:sp>
      <p:sp>
        <p:nvSpPr>
          <p:cNvPr id="63" name="Stat tile 63"/>
          <p:cNvSpPr/>
          <p:nvPr/>
        </p:nvSpPr>
        <p:spPr>
          <a:xfrm>
            <a:off x="9276588" y="2651760"/>
            <a:ext cx="3897630" cy="2331720"/>
          </a:xfrm>
          <a:prstGeom prst="roundRect">
            <a:avLst>
              <a:gd name="adj" fmla="val 3921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4" name="Stat value 64"/>
          <p:cNvSpPr txBox="1"/>
          <p:nvPr/>
        </p:nvSpPr>
        <p:spPr>
          <a:xfrm>
            <a:off x="9688067" y="2971800"/>
            <a:ext cx="307467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162</a:t>
            </a:r>
          </a:p>
        </p:txBody>
      </p:sp>
      <p:sp>
        <p:nvSpPr>
          <p:cNvPr id="65" name="Stat label 65"/>
          <p:cNvSpPr txBox="1"/>
          <p:nvPr/>
        </p:nvSpPr>
        <p:spPr>
          <a:xfrm>
            <a:off x="9688067" y="4069080"/>
            <a:ext cx="307467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Record types with forms and workflows</a:t>
            </a:r>
          </a:p>
        </p:txBody>
      </p:sp>
      <p:sp>
        <p:nvSpPr>
          <p:cNvPr id="66" name="Stat tile 66"/>
          <p:cNvSpPr/>
          <p:nvPr/>
        </p:nvSpPr>
        <p:spPr>
          <a:xfrm>
            <a:off x="13448538" y="2651760"/>
            <a:ext cx="3897630" cy="2331720"/>
          </a:xfrm>
          <a:prstGeom prst="roundRect">
            <a:avLst>
              <a:gd name="adj" fmla="val 3921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7" name="Stat value 67"/>
          <p:cNvSpPr txBox="1"/>
          <p:nvPr/>
        </p:nvSpPr>
        <p:spPr>
          <a:xfrm>
            <a:off x="13860017" y="2971800"/>
            <a:ext cx="307467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80</a:t>
            </a:r>
          </a:p>
        </p:txBody>
      </p:sp>
      <p:sp>
        <p:nvSpPr>
          <p:cNvPr id="68" name="Stat label 68"/>
          <p:cNvSpPr txBox="1"/>
          <p:nvPr/>
        </p:nvSpPr>
        <p:spPr>
          <a:xfrm>
            <a:off x="13860017" y="434340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Master data types</a:t>
            </a:r>
          </a:p>
        </p:txBody>
      </p:sp>
      <p:sp>
        <p:nvSpPr>
          <p:cNvPr id="69" name="Stat tile 69"/>
          <p:cNvSpPr/>
          <p:nvPr/>
        </p:nvSpPr>
        <p:spPr>
          <a:xfrm>
            <a:off x="932688" y="5257800"/>
            <a:ext cx="3897630" cy="2331720"/>
          </a:xfrm>
          <a:prstGeom prst="roundRect">
            <a:avLst>
              <a:gd name="adj" fmla="val 3921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0" name="Stat value 70"/>
          <p:cNvSpPr txBox="1"/>
          <p:nvPr/>
        </p:nvSpPr>
        <p:spPr>
          <a:xfrm>
            <a:off x="1344168" y="5577840"/>
            <a:ext cx="307467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78</a:t>
            </a:r>
          </a:p>
        </p:txBody>
      </p:sp>
      <p:sp>
        <p:nvSpPr>
          <p:cNvPr id="71" name="Stat label 71"/>
          <p:cNvSpPr txBox="1"/>
          <p:nvPr/>
        </p:nvSpPr>
        <p:spPr>
          <a:xfrm>
            <a:off x="1344168" y="694944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Roles from the user matrix</a:t>
            </a:r>
          </a:p>
        </p:txBody>
      </p:sp>
      <p:sp>
        <p:nvSpPr>
          <p:cNvPr id="72" name="Stat tile 72"/>
          <p:cNvSpPr/>
          <p:nvPr/>
        </p:nvSpPr>
        <p:spPr>
          <a:xfrm>
            <a:off x="5104638" y="5257800"/>
            <a:ext cx="3897630" cy="2331720"/>
          </a:xfrm>
          <a:prstGeom prst="roundRect">
            <a:avLst>
              <a:gd name="adj" fmla="val 3921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3" name="Stat value 73"/>
          <p:cNvSpPr txBox="1"/>
          <p:nvPr/>
        </p:nvSpPr>
        <p:spPr>
          <a:xfrm>
            <a:off x="5516118" y="5577840"/>
            <a:ext cx="307467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515</a:t>
            </a:r>
          </a:p>
        </p:txBody>
      </p:sp>
      <p:sp>
        <p:nvSpPr>
          <p:cNvPr id="74" name="Stat label 74"/>
          <p:cNvSpPr txBox="1"/>
          <p:nvPr/>
        </p:nvSpPr>
        <p:spPr>
          <a:xfrm>
            <a:off x="5516118" y="694944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Transaction codes in the menu</a:t>
            </a:r>
          </a:p>
        </p:txBody>
      </p:sp>
      <p:sp>
        <p:nvSpPr>
          <p:cNvPr id="75" name="Stat tile 75"/>
          <p:cNvSpPr/>
          <p:nvPr/>
        </p:nvSpPr>
        <p:spPr>
          <a:xfrm>
            <a:off x="9276588" y="5257800"/>
            <a:ext cx="3897630" cy="2331720"/>
          </a:xfrm>
          <a:prstGeom prst="roundRect">
            <a:avLst>
              <a:gd name="adj" fmla="val 3921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6" name="Stat value 76"/>
          <p:cNvSpPr txBox="1"/>
          <p:nvPr/>
        </p:nvSpPr>
        <p:spPr>
          <a:xfrm>
            <a:off x="9688067" y="5577840"/>
            <a:ext cx="307467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2,562</a:t>
            </a:r>
          </a:p>
        </p:txBody>
      </p:sp>
      <p:sp>
        <p:nvSpPr>
          <p:cNvPr id="77" name="Stat label 77"/>
          <p:cNvSpPr txBox="1"/>
          <p:nvPr/>
        </p:nvSpPr>
        <p:spPr>
          <a:xfrm>
            <a:off x="9688067" y="694944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Employees across the group</a:t>
            </a:r>
          </a:p>
        </p:txBody>
      </p:sp>
      <p:sp>
        <p:nvSpPr>
          <p:cNvPr id="78" name="Stat tile 78"/>
          <p:cNvSpPr/>
          <p:nvPr/>
        </p:nvSpPr>
        <p:spPr>
          <a:xfrm>
            <a:off x="13448538" y="5257800"/>
            <a:ext cx="3897630" cy="2331720"/>
          </a:xfrm>
          <a:prstGeom prst="roundRect">
            <a:avLst>
              <a:gd name="adj" fmla="val 3921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9" name="Stat value 79"/>
          <p:cNvSpPr txBox="1"/>
          <p:nvPr/>
        </p:nvSpPr>
        <p:spPr>
          <a:xfrm>
            <a:off x="13860017" y="5577840"/>
            <a:ext cx="307467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188</a:t>
            </a:r>
          </a:p>
        </p:txBody>
      </p:sp>
      <p:sp>
        <p:nvSpPr>
          <p:cNvPr id="80" name="Stat label 80"/>
          <p:cNvSpPr txBox="1"/>
          <p:nvPr/>
        </p:nvSpPr>
        <p:spPr>
          <a:xfrm>
            <a:off x="13860017" y="694944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Automated tests passing</a:t>
            </a:r>
          </a:p>
        </p:txBody>
      </p:sp>
      <p:sp>
        <p:nvSpPr>
          <p:cNvPr id="81" name="Note 81"/>
          <p:cNvSpPr txBox="1"/>
          <p:nvPr/>
        </p:nvSpPr>
        <p:spPr>
          <a:xfrm>
            <a:off x="932688" y="7909560"/>
            <a:ext cx="16413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sz="16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Frontend demo with in-memory data: every screen works, data resets on reload.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5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EASE. Executive overview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Each role lands on its own home screen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888232"/>
            <a:ext cx="140212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Role-based</a:t>
            </a:r>
          </a:p>
        </p:txBody>
      </p:sp>
      <p:sp>
        <p:nvSpPr>
          <p:cNvPr id="59" name="Tag 59"/>
          <p:cNvSpPr/>
          <p:nvPr/>
        </p:nvSpPr>
        <p:spPr>
          <a:xfrm>
            <a:off x="2965744" y="3888232"/>
            <a:ext cx="163424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Light and dark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824476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76605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Quick login for 24 personas, from CFO to driver and contractor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53821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Menus, buttons and approvals follow the signed-in role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092443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034023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Group map, revenue by entity and items that need attention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806183"/>
            <a:ext cx="516993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Phones get a bottom tab bar instead of a hamburger menu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/>
      <p:grpSp>
        <p:nvGrpSpPr>
          <p:cNvPr name="Group 41" id="41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46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EASE. Compared with SAP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2844" y="9381859"/>
            <a:ext cx="16402311" cy="217503"/>
            <a:chOff x="0" y="0"/>
            <a:chExt cx="21869749" cy="290004"/>
          </a:xfrm>
        </p:grpSpPr>
        <p:sp>
          <p:nvSpPr>
            <p:cNvPr name="ftr_left" id="50"/>
            <p:cNvSpPr txBox="true"/>
            <p:nvPr/>
          </p:nvSpPr>
          <p:spPr>
            <a:xfrm rot="0">
              <a:off x="2249988" y="6669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6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6082239" y="6669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0889" cy="288051"/>
            </a:xfrm>
            <a:custGeom>
              <a:avLst/>
              <a:gdLst/>
              <a:ahLst/>
              <a:cxnLst/>
              <a:rect r="r" b="b" t="t" l="l"/>
              <a:pathLst>
                <a:path h="288051" w="920889">
                  <a:moveTo>
                    <a:pt x="0" y="0"/>
                  </a:moveTo>
                  <a:lnTo>
                    <a:pt x="920889" y="0"/>
                  </a:lnTo>
                  <a:lnTo>
                    <a:pt x="920889" y="288051"/>
                  </a:lnTo>
                  <a:lnTo>
                    <a:pt x="0" y="288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id="53" name="Title 53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Familiar for SAP users, simpler for everyone else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4" name="Col head 54"/>
          <p:cNvSpPr txBox="1"/>
          <p:nvPr/>
        </p:nvSpPr>
        <p:spPr>
          <a:xfrm>
            <a:off x="2249424" y="2304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00"/>
              </a:lnSpc>
            </a:pPr>
            <a:r>
              <a:rPr lang="en-US" sz="2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SAP habit</a:t>
            </a:r>
          </a:p>
        </p:txBody>
      </p:sp>
      <p:sp>
        <p:nvSpPr>
          <p:cNvPr id="55" name="Col head 55"/>
          <p:cNvSpPr txBox="1"/>
          <p:nvPr/>
        </p:nvSpPr>
        <p:spPr>
          <a:xfrm>
            <a:off x="9656064" y="2304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00"/>
              </a:lnSpc>
            </a:pPr>
            <a:r>
              <a:rPr lang="en-US" sz="20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In Satona ERP</a:t>
            </a:r>
          </a:p>
        </p:txBody>
      </p:sp>
      <p:sp>
        <p:nvSpPr>
          <p:cNvPr id="56" name="Row 56"/>
          <p:cNvSpPr/>
          <p:nvPr/>
        </p:nvSpPr>
        <p:spPr>
          <a:xfrm>
            <a:off x="923544" y="2816352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7" name="Num 57"/>
          <p:cNvSpPr txBox="1"/>
          <p:nvPr/>
        </p:nvSpPr>
        <p:spPr>
          <a:xfrm>
            <a:off x="1289304" y="2816352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58" name="Left 58"/>
          <p:cNvSpPr txBox="1"/>
          <p:nvPr/>
        </p:nvSpPr>
        <p:spPr>
          <a:xfrm>
            <a:off x="2249424" y="2816352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Memorise a T-code for every screen</a:t>
            </a:r>
          </a:p>
        </p:txBody>
      </p:sp>
      <p:cxnSp>
        <p:nvCxnSpPr>
          <p:cNvPr id="59" name="Divider 59"/>
          <p:cNvCxnSpPr/>
          <p:nvPr/>
        </p:nvCxnSpPr>
        <p:spPr>
          <a:xfrm>
            <a:off x="9153144" y="2999232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3264408"/>
            <a:ext cx="237744" cy="237744"/>
          </a:xfrm>
          <a:prstGeom prst="rect">
            <a:avLst/>
          </a:prstGeom>
        </p:spPr>
      </p:pic>
      <p:sp>
        <p:nvSpPr>
          <p:cNvPr id="61" name="Right 61"/>
          <p:cNvSpPr txBox="1"/>
          <p:nvPr/>
        </p:nvSpPr>
        <p:spPr>
          <a:xfrm>
            <a:off x="10067544" y="2816352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Type a record number, a name or "new permit"; T-codes still work</a:t>
            </a:r>
          </a:p>
        </p:txBody>
      </p:sp>
      <p:sp>
        <p:nvSpPr>
          <p:cNvPr id="62" name="Row 62"/>
          <p:cNvSpPr/>
          <p:nvPr/>
        </p:nvSpPr>
        <p:spPr>
          <a:xfrm>
            <a:off x="923544" y="4059935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3" name="Num 63"/>
          <p:cNvSpPr txBox="1"/>
          <p:nvPr/>
        </p:nvSpPr>
        <p:spPr>
          <a:xfrm>
            <a:off x="1289304" y="4059935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4" name="Left 64"/>
          <p:cNvSpPr txBox="1"/>
          <p:nvPr/>
        </p:nvSpPr>
        <p:spPr>
          <a:xfrm>
            <a:off x="2249424" y="4059935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Separate create, change and display transactions</a:t>
            </a:r>
          </a:p>
        </p:txBody>
      </p:sp>
      <p:cxnSp>
        <p:nvCxnSpPr>
          <p:cNvPr id="65" name="Divider 65"/>
          <p:cNvCxnSpPr/>
          <p:nvPr/>
        </p:nvCxnSpPr>
        <p:spPr>
          <a:xfrm>
            <a:off x="9153144" y="4242816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4507992"/>
            <a:ext cx="237744" cy="237744"/>
          </a:xfrm>
          <a:prstGeom prst="rect">
            <a:avLst/>
          </a:prstGeom>
        </p:spPr>
      </p:pic>
      <p:sp>
        <p:nvSpPr>
          <p:cNvPr id="67" name="Right 67"/>
          <p:cNvSpPr txBox="1"/>
          <p:nvPr/>
        </p:nvSpPr>
        <p:spPr>
          <a:xfrm>
            <a:off x="10067544" y="4059935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One drawer creates, views, edits, approves and deletes in place</a:t>
            </a:r>
          </a:p>
        </p:txBody>
      </p:sp>
      <p:sp>
        <p:nvSpPr>
          <p:cNvPr id="68" name="Row 68"/>
          <p:cNvSpPr/>
          <p:nvPr/>
        </p:nvSpPr>
        <p:spPr>
          <a:xfrm>
            <a:off x="923544" y="5303519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9" name="Num 69"/>
          <p:cNvSpPr txBox="1"/>
          <p:nvPr/>
        </p:nvSpPr>
        <p:spPr>
          <a:xfrm>
            <a:off x="1289304" y="5303519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70" name="Left 70"/>
          <p:cNvSpPr txBox="1"/>
          <p:nvPr/>
        </p:nvSpPr>
        <p:spPr>
          <a:xfrm>
            <a:off x="2249424" y="5303519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Reports exported, then filtered in Excel</a:t>
            </a:r>
          </a:p>
        </p:txBody>
      </p:sp>
      <p:cxnSp>
        <p:nvCxnSpPr>
          <p:cNvPr id="71" name="Divider 71"/>
          <p:cNvCxnSpPr/>
          <p:nvPr/>
        </p:nvCxnSpPr>
        <p:spPr>
          <a:xfrm>
            <a:off x="9153144" y="5486399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72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5751575"/>
            <a:ext cx="237744" cy="237744"/>
          </a:xfrm>
          <a:prstGeom prst="rect">
            <a:avLst/>
          </a:prstGeom>
        </p:spPr>
      </p:pic>
      <p:sp>
        <p:nvSpPr>
          <p:cNvPr id="73" name="Right 73"/>
          <p:cNvSpPr txBox="1"/>
          <p:nvPr/>
        </p:nvSpPr>
        <p:spPr>
          <a:xfrm>
            <a:off x="10067544" y="5303519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Every chart opens the records behind it; any table exports CSV</a:t>
            </a:r>
          </a:p>
        </p:txBody>
      </p:sp>
      <p:sp>
        <p:nvSpPr>
          <p:cNvPr id="74" name="Row 74"/>
          <p:cNvSpPr/>
          <p:nvPr/>
        </p:nvSpPr>
        <p:spPr>
          <a:xfrm>
            <a:off x="923544" y="6547103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5" name="Num 75"/>
          <p:cNvSpPr txBox="1"/>
          <p:nvPr/>
        </p:nvSpPr>
        <p:spPr>
          <a:xfrm>
            <a:off x="1289304" y="6547103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04</a:t>
            </a:r>
          </a:p>
        </p:txBody>
      </p:sp>
      <p:sp>
        <p:nvSpPr>
          <p:cNvPr id="76" name="Left 76"/>
          <p:cNvSpPr txBox="1"/>
          <p:nvPr/>
        </p:nvSpPr>
        <p:spPr>
          <a:xfrm>
            <a:off x="2249424" y="6547103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Approvals hidden in a workflow inbox</a:t>
            </a:r>
          </a:p>
        </p:txBody>
      </p:sp>
      <p:cxnSp>
        <p:nvCxnSpPr>
          <p:cNvPr id="77" name="Divider 77"/>
          <p:cNvCxnSpPr/>
          <p:nvPr/>
        </p:nvCxnSpPr>
        <p:spPr>
          <a:xfrm>
            <a:off x="9153144" y="6729983"/>
            <a:ext cx="0" cy="768096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78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6995159"/>
            <a:ext cx="237744" cy="237744"/>
          </a:xfrm>
          <a:prstGeom prst="rect">
            <a:avLst/>
          </a:prstGeom>
        </p:spPr>
      </p:pic>
      <p:sp>
        <p:nvSpPr>
          <p:cNvPr id="79" name="Right 79"/>
          <p:cNvSpPr txBox="1"/>
          <p:nvPr/>
        </p:nvSpPr>
        <p:spPr>
          <a:xfrm>
            <a:off x="10067544" y="6547103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record shows each approval level, who signed and who is next</a:t>
            </a:r>
          </a:p>
        </p:txBody>
      </p:sp>
      <p:sp>
        <p:nvSpPr>
          <p:cNvPr id="80" name="Row 80"/>
          <p:cNvSpPr/>
          <p:nvPr/>
        </p:nvSpPr>
        <p:spPr>
          <a:xfrm>
            <a:off x="923544" y="7790687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1" name="Num 81"/>
          <p:cNvSpPr txBox="1"/>
          <p:nvPr/>
        </p:nvSpPr>
        <p:spPr>
          <a:xfrm>
            <a:off x="1289304" y="7790687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05</a:t>
            </a:r>
          </a:p>
        </p:txBody>
      </p:sp>
      <p:sp>
        <p:nvSpPr>
          <p:cNvPr id="82" name="Left 82"/>
          <p:cNvSpPr txBox="1"/>
          <p:nvPr/>
        </p:nvSpPr>
        <p:spPr>
          <a:xfrm>
            <a:off x="2249424" y="7790687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Generic menus for every user</a:t>
            </a:r>
          </a:p>
        </p:txBody>
      </p:sp>
      <p:cxnSp>
        <p:nvCxnSpPr>
          <p:cNvPr id="83" name="Divider 83"/>
          <p:cNvCxnSpPr/>
          <p:nvPr/>
        </p:nvCxnSpPr>
        <p:spPr>
          <a:xfrm>
            <a:off x="9153144" y="7973567"/>
            <a:ext cx="0" cy="768096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84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8238743"/>
            <a:ext cx="237744" cy="237744"/>
          </a:xfrm>
          <a:prstGeom prst="rect">
            <a:avLst/>
          </a:prstGeom>
        </p:spPr>
      </p:pic>
      <p:sp>
        <p:nvSpPr>
          <p:cNvPr id="85" name="Right 85"/>
          <p:cNvSpPr txBox="1"/>
          <p:nvPr/>
        </p:nvSpPr>
        <p:spPr>
          <a:xfrm>
            <a:off x="10067544" y="7790687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menu, buttons and home screen follow the role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7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EASE. Global search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One search box finds any record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778504"/>
            <a:ext cx="1117658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Cmd+K</a:t>
            </a:r>
          </a:p>
        </p:txBody>
      </p:sp>
      <p:sp>
        <p:nvSpPr>
          <p:cNvPr id="59" name="Tag 59"/>
          <p:cNvSpPr/>
          <p:nvPr/>
        </p:nvSpPr>
        <p:spPr>
          <a:xfrm>
            <a:off x="2681282" y="3778504"/>
            <a:ext cx="187824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Records + menus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714748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656328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Cmd+K, Ctrl+K or / opens it from any screen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21055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15213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Finds records by number or by words in any field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06363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5647943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"new permit" offers the create form for that record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02171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143751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Transaction codes such as PTW01 jump straight to their screen</a:t>
            </a:r>
          </a:p>
        </p:txBody>
      </p:sp>
      <p:pic>
        <p:nvPicPr>
          <p:cNvPr id="68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974331"/>
            <a:ext cx="186944" cy="186944"/>
          </a:xfrm>
          <a:prstGeom prst="rect">
            <a:avLst/>
          </a:prstGeom>
        </p:spPr>
      </p:pic>
      <p:sp>
        <p:nvSpPr>
          <p:cNvPr id="69" name="Bullet 69"/>
          <p:cNvSpPr txBox="1"/>
          <p:nvPr/>
        </p:nvSpPr>
        <p:spPr>
          <a:xfrm>
            <a:off x="1787144" y="6915911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Recent records and pending approvals show before you type</a:t>
            </a:r>
          </a:p>
        </p:txBody>
      </p:sp>
      <p:sp>
        <p:nvSpPr>
          <p:cNvPr id="70" name="Screen bezel 70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71" name="Screenshot" descr="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8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EASE. Work in place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Create and edit without leaving the page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026408"/>
            <a:ext cx="107984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Drawer</a:t>
            </a:r>
          </a:p>
        </p:txBody>
      </p:sp>
      <p:sp>
        <p:nvSpPr>
          <p:cNvPr id="59" name="Tag 59"/>
          <p:cNvSpPr/>
          <p:nvPr/>
        </p:nvSpPr>
        <p:spPr>
          <a:xfrm>
            <a:off x="2643464" y="4026408"/>
            <a:ext cx="1694012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Smart defaults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962651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904232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side drawer opens any record for view, edit, approve or delete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34811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676392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New forms prefill today and the user's company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172200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Operational pages carry New buttons for the records they use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7002779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944360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Press N on a list to start a new record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draw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9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EASE. Lists and drill-down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Every chart opens the records behind it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302760"/>
            <a:ext cx="1475744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Bulk actions</a:t>
            </a:r>
          </a:p>
        </p:txBody>
      </p:sp>
      <p:sp>
        <p:nvSpPr>
          <p:cNvPr id="59" name="Tag 59"/>
          <p:cNvSpPr/>
          <p:nvPr/>
        </p:nvSpPr>
        <p:spPr>
          <a:xfrm>
            <a:off x="3039368" y="4302760"/>
            <a:ext cx="1425879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CSV export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239003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5180584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Click a month, a status slice or a day to filter the table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34812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676392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Period filter stays in the URL, so links and Back keep it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172200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Select rows to approve, move or delete them in bulk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726427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668008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Export any filtered list to CSV for Excel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bul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OPERATIONS. Fleet check-in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 driver is cleared to drive in four checks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903220"/>
            <a:ext cx="3929176" cy="3566160"/>
          </a:xfrm>
          <a:prstGeom prst="roundRect">
            <a:avLst>
              <a:gd name="adj" fmla="val 256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ep no 58"/>
          <p:cNvSpPr txBox="1"/>
          <p:nvPr/>
        </p:nvSpPr>
        <p:spPr>
          <a:xfrm>
            <a:off x="1225296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59" name="Step title 59"/>
          <p:cNvSpPr txBox="1"/>
          <p:nvPr/>
        </p:nvSpPr>
        <p:spPr>
          <a:xfrm>
            <a:off x="1225296" y="4274820"/>
            <a:ext cx="34719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3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P2H checklist</a:t>
            </a:r>
          </a:p>
        </p:txBody>
      </p:sp>
      <p:sp>
        <p:nvSpPr>
          <p:cNvPr id="60" name="Step desc 60"/>
          <p:cNvSpPr txBox="1"/>
          <p:nvPr/>
        </p:nvSpPr>
        <p:spPr>
          <a:xfrm>
            <a:off x="1225296" y="4777740"/>
            <a:ext cx="3076443" cy="8665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54"/>
              </a:lnSpc>
            </a:pPr>
            <a:r>
              <a:rPr lang="en-US" sz="155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16 pre-trip checks in 6 groups; a failed critical item blocks departure</a:t>
            </a:r>
          </a:p>
        </p:txBody>
      </p:sp>
      <p:sp>
        <p:nvSpPr>
          <p:cNvPr id="61" name="Card 61"/>
          <p:cNvSpPr/>
          <p:nvPr/>
        </p:nvSpPr>
        <p:spPr>
          <a:xfrm>
            <a:off x="5094122" y="2903220"/>
            <a:ext cx="3929176" cy="3566160"/>
          </a:xfrm>
          <a:prstGeom prst="roundRect">
            <a:avLst>
              <a:gd name="adj" fmla="val 256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2" name="Step no 62"/>
          <p:cNvSpPr txBox="1"/>
          <p:nvPr/>
        </p:nvSpPr>
        <p:spPr>
          <a:xfrm>
            <a:off x="5386730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3" name="Step title 63"/>
          <p:cNvSpPr txBox="1"/>
          <p:nvPr/>
        </p:nvSpPr>
        <p:spPr>
          <a:xfrm>
            <a:off x="5386730" y="4274820"/>
            <a:ext cx="34719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3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Fatigue scan</a:t>
            </a:r>
          </a:p>
        </p:txBody>
      </p:sp>
      <p:sp>
        <p:nvSpPr>
          <p:cNvPr id="64" name="Step desc 64"/>
          <p:cNvSpPr txBox="1"/>
          <p:nvPr/>
        </p:nvSpPr>
        <p:spPr>
          <a:xfrm>
            <a:off x="5386730" y="4777740"/>
            <a:ext cx="3343960" cy="5929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54"/>
              </a:lnSpc>
            </a:pPr>
            <a:r>
              <a:rPr lang="en-US" sz="155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DSM camera scans the driver's face for signs of fatigue</a:t>
            </a:r>
          </a:p>
        </p:txBody>
      </p:sp>
      <p:sp>
        <p:nvSpPr>
          <p:cNvPr id="65" name="Card 65"/>
          <p:cNvSpPr/>
          <p:nvPr/>
        </p:nvSpPr>
        <p:spPr>
          <a:xfrm>
            <a:off x="9255556" y="2903220"/>
            <a:ext cx="3929176" cy="3566160"/>
          </a:xfrm>
          <a:prstGeom prst="roundRect">
            <a:avLst>
              <a:gd name="adj" fmla="val 256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6" name="Step no 66"/>
          <p:cNvSpPr txBox="1"/>
          <p:nvPr/>
        </p:nvSpPr>
        <p:spPr>
          <a:xfrm>
            <a:off x="9548164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67" name="Step title 67"/>
          <p:cNvSpPr txBox="1"/>
          <p:nvPr/>
        </p:nvSpPr>
        <p:spPr>
          <a:xfrm>
            <a:off x="9548164" y="4274820"/>
            <a:ext cx="34719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3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Breath test</a:t>
            </a:r>
          </a:p>
        </p:txBody>
      </p:sp>
      <p:sp>
        <p:nvSpPr>
          <p:cNvPr id="68" name="Step desc 68"/>
          <p:cNvSpPr txBox="1"/>
          <p:nvPr/>
        </p:nvSpPr>
        <p:spPr>
          <a:xfrm>
            <a:off x="9548164" y="4777740"/>
            <a:ext cx="3343960" cy="5929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54"/>
              </a:lnSpc>
            </a:pPr>
            <a:r>
              <a:rPr lang="en-US" sz="155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Alcohol result recorded with the check-in</a:t>
            </a:r>
          </a:p>
        </p:txBody>
      </p:sp>
      <p:sp>
        <p:nvSpPr>
          <p:cNvPr id="69" name="Card 69"/>
          <p:cNvSpPr/>
          <p:nvPr/>
        </p:nvSpPr>
        <p:spPr>
          <a:xfrm>
            <a:off x="13416991" y="2903220"/>
            <a:ext cx="3929176" cy="3566160"/>
          </a:xfrm>
          <a:prstGeom prst="roundRect">
            <a:avLst>
              <a:gd name="adj" fmla="val 256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0" name="Step no 70"/>
          <p:cNvSpPr txBox="1"/>
          <p:nvPr/>
        </p:nvSpPr>
        <p:spPr>
          <a:xfrm>
            <a:off x="13709599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04</a:t>
            </a:r>
          </a:p>
        </p:txBody>
      </p:sp>
      <p:sp>
        <p:nvSpPr>
          <p:cNvPr id="71" name="Step title 71"/>
          <p:cNvSpPr txBox="1"/>
          <p:nvPr/>
        </p:nvSpPr>
        <p:spPr>
          <a:xfrm>
            <a:off x="13709599" y="4274820"/>
            <a:ext cx="34719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3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Gate decision</a:t>
            </a:r>
          </a:p>
        </p:txBody>
      </p:sp>
      <p:sp>
        <p:nvSpPr>
          <p:cNvPr id="72" name="Step desc 72"/>
          <p:cNvSpPr txBox="1"/>
          <p:nvPr/>
        </p:nvSpPr>
        <p:spPr>
          <a:xfrm>
            <a:off x="13709599" y="4777740"/>
            <a:ext cx="3343960" cy="5929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54"/>
              </a:lnSpc>
            </a:pPr>
            <a:r>
              <a:rPr lang="en-US" sz="155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Fit to drive or Hold; the approver clears or blocks at the gate</a:t>
            </a:r>
          </a:p>
        </p:txBody>
      </p:sp>
      <p:sp>
        <p:nvSpPr>
          <p:cNvPr id="73" name="Arrow dot 73"/>
          <p:cNvSpPr/>
          <p:nvPr/>
        </p:nvSpPr>
        <p:spPr>
          <a:xfrm>
            <a:off x="4785969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74" name="Arrow 74"/>
          <p:cNvSpPr/>
          <p:nvPr/>
        </p:nvSpPr>
        <p:spPr>
          <a:xfrm>
            <a:off x="4900269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5" name="Arrow dot 75"/>
          <p:cNvSpPr/>
          <p:nvPr/>
        </p:nvSpPr>
        <p:spPr>
          <a:xfrm>
            <a:off x="8947403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76" name="Arrow 76"/>
          <p:cNvSpPr/>
          <p:nvPr/>
        </p:nvSpPr>
        <p:spPr>
          <a:xfrm>
            <a:off x="9061703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7" name="Arrow dot 77"/>
          <p:cNvSpPr/>
          <p:nvPr/>
        </p:nvSpPr>
        <p:spPr>
          <a:xfrm>
            <a:off x="13108838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78" name="Arrow 78"/>
          <p:cNvSpPr/>
          <p:nvPr/>
        </p:nvSpPr>
        <p:spPr>
          <a:xfrm>
            <a:off x="13223138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9" name="Callout 79"/>
          <p:cNvSpPr/>
          <p:nvPr/>
        </p:nvSpPr>
        <p:spPr>
          <a:xfrm>
            <a:off x="932688" y="6789420"/>
            <a:ext cx="16413480" cy="1234440"/>
          </a:xfrm>
          <a:prstGeom prst="roundRect">
            <a:avLst>
              <a:gd name="adj" fmla="val 7407"/>
            </a:avLst>
          </a:prstGeom>
          <a:solidFill>
            <a:srgbClr val="000000">
              <a:alpha val="35294"/>
            </a:srgbClr>
          </a:soli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502920" tIns="0" rIns="502920" bIns="0" anchor="ctr" rtlCol="0">
            <a:noAutofit/>
          </a:bodyPr>
          <a:lstStyle/>
          <a:p>
            <a:pPr algn="l">
              <a:lnSpc>
                <a:spcPts val="2600"/>
              </a:lnSpc>
            </a:pPr>
            <a:r>
              <a:rPr lang="en-US" sz="1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 xml:space="preserve">Drivers file their own check-in. </a:t>
            </a:r>
            <a:r>
              <a:rPr lang="en-US" sz="180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The driver app shows only check-in, its history and the gate decision.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OPERATIONS. On the phone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Field roles work from a phone-sized console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274312"/>
            <a:ext cx="992169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Driver</a:t>
            </a:r>
          </a:p>
        </p:txBody>
      </p:sp>
      <p:sp>
        <p:nvSpPr>
          <p:cNvPr id="59" name="Tag 59"/>
          <p:cNvSpPr/>
          <p:nvPr/>
        </p:nvSpPr>
        <p:spPr>
          <a:xfrm>
            <a:off x="2555793" y="4274312"/>
            <a:ext cx="1577268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SHE Manager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210555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5152136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Bottom tab bar: home, worklist, approvals and the full menu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98271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924295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Drivers land on check-in; SHE managers on the SHE cockpit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754875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696455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Approvers sign their level from the approvals tab</a:t>
            </a:r>
          </a:p>
        </p:txBody>
      </p:sp>
      <p:sp>
        <p:nvSpPr>
          <p:cNvPr id="66" name="Phone bezel 66"/>
          <p:cNvSpPr/>
          <p:nvPr/>
        </p:nvSpPr>
        <p:spPr>
          <a:xfrm>
            <a:off x="7966807" y="2688336"/>
            <a:ext cx="2820858" cy="5870448"/>
          </a:xfrm>
          <a:prstGeom prst="roundRect">
            <a:avLst>
              <a:gd name="adj" fmla="val 11021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7" name="Phone screenshot 1" descr="phone-check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7391" y="2788920"/>
            <a:ext cx="2619690" cy="5669280"/>
          </a:xfrm>
          <a:prstGeom prst="roundRect">
            <a:avLst>
              <a:gd name="adj" fmla="val 8726"/>
            </a:avLst>
          </a:prstGeom>
        </p:spPr>
      </p:pic>
      <p:sp>
        <p:nvSpPr>
          <p:cNvPr id="68" name="Phone bezel 68"/>
          <p:cNvSpPr/>
          <p:nvPr/>
        </p:nvSpPr>
        <p:spPr>
          <a:xfrm>
            <a:off x="11043698" y="2688336"/>
            <a:ext cx="2820858" cy="5870448"/>
          </a:xfrm>
          <a:prstGeom prst="roundRect">
            <a:avLst>
              <a:gd name="adj" fmla="val 11021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Phone screenshot 2" descr="phone-sh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4282" y="2788920"/>
            <a:ext cx="2619690" cy="5669280"/>
          </a:xfrm>
          <a:prstGeom prst="roundRect">
            <a:avLst>
              <a:gd name="adj" fmla="val 8726"/>
            </a:avLst>
          </a:prstGeom>
        </p:spPr>
      </p:pic>
      <p:sp>
        <p:nvSpPr>
          <p:cNvPr id="70" name="Phone bezel 70"/>
          <p:cNvSpPr/>
          <p:nvPr/>
        </p:nvSpPr>
        <p:spPr>
          <a:xfrm>
            <a:off x="14120589" y="2688336"/>
            <a:ext cx="2820858" cy="5870448"/>
          </a:xfrm>
          <a:prstGeom prst="roundRect">
            <a:avLst>
              <a:gd name="adj" fmla="val 11021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71" name="Phone screenshot 3" descr="phone-approval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21173" y="2788920"/>
            <a:ext cx="2619690" cy="5669280"/>
          </a:xfrm>
          <a:prstGeom prst="roundRect">
            <a:avLst>
              <a:gd name="adj" fmla="val 8726"/>
            </a:avLst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OPERATIONS. Safety ADAS and DSM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Driver safety events reviewed as they arrive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164583"/>
            <a:ext cx="972357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ADAS</a:t>
            </a:r>
          </a:p>
        </p:txBody>
      </p:sp>
      <p:sp>
        <p:nvSpPr>
          <p:cNvPr id="59" name="Tag 59"/>
          <p:cNvSpPr/>
          <p:nvPr/>
        </p:nvSpPr>
        <p:spPr>
          <a:xfrm>
            <a:off x="2535981" y="4164583"/>
            <a:ext cx="89476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DSM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100827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5042408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Live stream of ADAS road events and DSM cabin events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53821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Camera frame per event, hour-of-day heat strip and event types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31037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Driver safety scores rank who needs coaching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806184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Review, coach and close each event in its workflow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safe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OPERATIONS. Production in 3D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plant line in 3D, coloured by OEE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412487"/>
            <a:ext cx="873955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MES</a:t>
            </a:r>
          </a:p>
        </p:txBody>
      </p:sp>
      <p:sp>
        <p:nvSpPr>
          <p:cNvPr id="59" name="Tag 59"/>
          <p:cNvSpPr/>
          <p:nvPr/>
        </p:nvSpPr>
        <p:spPr>
          <a:xfrm>
            <a:off x="2437579" y="4412487"/>
            <a:ext cx="1110706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three.js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348731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5290311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Block height and colour follow each work centre's OEE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844539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786120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Click a block to open its shift records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40347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281927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Dashboard tab: OEE per day, downtime Pareto and the shop floor</a:t>
            </a:r>
          </a:p>
        </p:txBody>
      </p:sp>
      <p:sp>
        <p:nvSpPr>
          <p:cNvPr id="66" name="Screen bezel 66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7" name="Screenshot" descr="mes-3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14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OPERATIONS. Tank farm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Tank levels and reorder points at a glance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274312"/>
            <a:ext cx="864539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TFM</a:t>
            </a:r>
          </a:p>
        </p:txBody>
      </p:sp>
      <p:sp>
        <p:nvSpPr>
          <p:cNvPr id="59" name="Tag 59"/>
          <p:cNvSpPr/>
          <p:nvPr/>
        </p:nvSpPr>
        <p:spPr>
          <a:xfrm>
            <a:off x="2428163" y="4274312"/>
            <a:ext cx="1518335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Auto reorder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210555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515213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Glass tanks show the live level; red marks a tank under its reorder point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98271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924295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low tank raises a purchase requisition from the same screen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754875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696455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Gauges tab adds level trends and stock reconciliation</a:t>
            </a:r>
          </a:p>
        </p:txBody>
      </p:sp>
      <p:sp>
        <p:nvSpPr>
          <p:cNvPr id="66" name="Screen bezel 66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7" name="Screenshot" descr="tank-3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15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SHE / K3. Cockpit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Lagging and leading indicators on one screen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026408"/>
            <a:ext cx="719599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K3</a:t>
            </a:r>
          </a:p>
        </p:txBody>
      </p:sp>
      <p:sp>
        <p:nvSpPr>
          <p:cNvPr id="59" name="Tag 59"/>
          <p:cNvSpPr/>
          <p:nvPr/>
        </p:nvSpPr>
        <p:spPr>
          <a:xfrm>
            <a:off x="2283223" y="4026408"/>
            <a:ext cx="179934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Clickable charts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962651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904232"/>
            <a:ext cx="516993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Days without LTI, LTIFR and TRIR from the incident register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34811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676392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Safety pyramid from fatalities down to unsafe acts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172200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Work areas with open permits, incidents and inspection scores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7002779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944360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Each chart opens the incidents or observations behind it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sh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16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SHE / K3. Permit to work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No permit is approved on a failed gas test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Lane 57"/>
          <p:cNvSpPr/>
          <p:nvPr/>
        </p:nvSpPr>
        <p:spPr>
          <a:xfrm>
            <a:off x="932688" y="3840480"/>
            <a:ext cx="16413480" cy="3246120"/>
          </a:xfrm>
          <a:prstGeom prst="roundRect">
            <a:avLst>
              <a:gd name="adj" fmla="val 281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Lane label 58"/>
          <p:cNvSpPr txBox="1"/>
          <p:nvPr/>
        </p:nvSpPr>
        <p:spPr>
          <a:xfrm>
            <a:off x="1371600" y="41148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400"/>
              </a:lnSpc>
            </a:pPr>
            <a:r>
              <a:rPr lang="en-US" sz="1200" b="1" spc="15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PERMIT TO WORK</a:t>
            </a:r>
          </a:p>
        </p:txBody>
      </p:sp>
      <p:sp>
        <p:nvSpPr>
          <p:cNvPr id="59" name="Node 59"/>
          <p:cNvSpPr/>
          <p:nvPr/>
        </p:nvSpPr>
        <p:spPr>
          <a:xfrm>
            <a:off x="1371600" y="474573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Permit request</a:t>
            </a:r>
          </a:p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(K3 or contractor)</a:t>
            </a:r>
          </a:p>
        </p:txBody>
      </p:sp>
      <p:sp>
        <p:nvSpPr>
          <p:cNvPr id="60" name="Node 60"/>
          <p:cNvSpPr/>
          <p:nvPr/>
        </p:nvSpPr>
        <p:spPr>
          <a:xfrm>
            <a:off x="4709160" y="474573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Gas test</a:t>
            </a:r>
          </a:p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(O2 and LEL)</a:t>
            </a:r>
          </a:p>
        </p:txBody>
      </p:sp>
      <p:sp>
        <p:nvSpPr>
          <p:cNvPr id="61" name="Node 61"/>
          <p:cNvSpPr/>
          <p:nvPr/>
        </p:nvSpPr>
        <p:spPr>
          <a:xfrm>
            <a:off x="10972800" y="474573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Safety Inspector</a:t>
            </a:r>
          </a:p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level 1</a:t>
            </a:r>
          </a:p>
        </p:txBody>
      </p:sp>
      <p:sp>
        <p:nvSpPr>
          <p:cNvPr id="62" name="Node 62"/>
          <p:cNvSpPr/>
          <p:nvPr/>
        </p:nvSpPr>
        <p:spPr>
          <a:xfrm>
            <a:off x="14310360" y="4745736"/>
            <a:ext cx="260604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K3 Officer, then</a:t>
            </a:r>
          </a:p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SHE Manager</a:t>
            </a:r>
          </a:p>
        </p:txBody>
      </p:sp>
      <p:sp>
        <p:nvSpPr>
          <p:cNvPr id="63" name="Decision 63"/>
          <p:cNvSpPr/>
          <p:nvPr/>
        </p:nvSpPr>
        <p:spPr>
          <a:xfrm>
            <a:off x="8046720" y="4407407"/>
            <a:ext cx="2194560" cy="1426464"/>
          </a:xfrm>
          <a:prstGeom prst="diamond">
            <a:avLst/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550"/>
              </a:lnSpc>
            </a:pPr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Gas test pass?</a:t>
            </a:r>
          </a:p>
        </p:txBody>
      </p:sp>
      <p:cxnSp>
        <p:nvCxnSpPr>
          <p:cNvPr id="64" name="Connector 64"/>
          <p:cNvCxnSpPr/>
          <p:nvPr/>
        </p:nvCxnSpPr>
        <p:spPr>
          <a:xfrm>
            <a:off x="4050791" y="512064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65" name="Connector 65"/>
          <p:cNvCxnSpPr/>
          <p:nvPr/>
        </p:nvCxnSpPr>
        <p:spPr>
          <a:xfrm>
            <a:off x="7388352" y="512064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66" name="Connector 66"/>
          <p:cNvCxnSpPr/>
          <p:nvPr/>
        </p:nvCxnSpPr>
        <p:spPr>
          <a:xfrm>
            <a:off x="10314432" y="5120640"/>
            <a:ext cx="585215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cxnSp>
        <p:nvCxnSpPr>
          <p:cNvPr id="67" name="Connector 67"/>
          <p:cNvCxnSpPr/>
          <p:nvPr/>
        </p:nvCxnSpPr>
        <p:spPr>
          <a:xfrm>
            <a:off x="13651992" y="5120640"/>
            <a:ext cx="585216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68" name="Yes 68"/>
          <p:cNvSpPr txBox="1"/>
          <p:nvPr/>
        </p:nvSpPr>
        <p:spPr>
          <a:xfrm>
            <a:off x="10351008" y="4791455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300" b="1">
                <a:solidFill>
                  <a:srgbClr val="2EBD59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Yes</a:t>
            </a:r>
          </a:p>
        </p:txBody>
      </p:sp>
      <p:cxnSp>
        <p:nvCxnSpPr>
          <p:cNvPr id="69" name="Connector 69"/>
          <p:cNvCxnSpPr/>
          <p:nvPr/>
        </p:nvCxnSpPr>
        <p:spPr>
          <a:xfrm>
            <a:off x="9144000" y="5879592"/>
            <a:ext cx="0" cy="210312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70" name="No 70"/>
          <p:cNvSpPr txBox="1"/>
          <p:nvPr/>
        </p:nvSpPr>
        <p:spPr>
          <a:xfrm>
            <a:off x="9272016" y="587044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3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No</a:t>
            </a:r>
          </a:p>
        </p:txBody>
      </p:sp>
      <p:sp>
        <p:nvSpPr>
          <p:cNvPr id="71" name="Node 71"/>
          <p:cNvSpPr/>
          <p:nvPr/>
        </p:nvSpPr>
        <p:spPr>
          <a:xfrm>
            <a:off x="7543800" y="6144768"/>
            <a:ext cx="3200400" cy="749808"/>
          </a:xfrm>
          <a:prstGeom prst="roundRect">
            <a:avLst>
              <a:gd name="adj" fmla="val 50000"/>
            </a:avLst>
          </a:prstGeom>
          <a:solidFill>
            <a:srgbClr val="000000">
              <a:alpha val="35294"/>
            </a:srgbClr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Ventilate and re-test</a:t>
            </a:r>
          </a:p>
        </p:txBody>
      </p:sp>
      <p:cxnSp>
        <p:nvCxnSpPr>
          <p:cNvPr id="72" name="Connector 72"/>
          <p:cNvCxnSpPr/>
          <p:nvPr/>
        </p:nvCxnSpPr>
        <p:spPr>
          <a:xfrm>
            <a:off x="10817352" y="6519672"/>
            <a:ext cx="1458468" cy="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</a:ln>
        </p:spPr>
      </p:cxnSp>
      <p:cxnSp>
        <p:nvCxnSpPr>
          <p:cNvPr id="73" name="Connector 73"/>
          <p:cNvCxnSpPr/>
          <p:nvPr/>
        </p:nvCxnSpPr>
        <p:spPr>
          <a:xfrm flipV="1">
            <a:off x="12275820" y="5568696"/>
            <a:ext cx="0" cy="950976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74" name="Note 74"/>
          <p:cNvSpPr txBox="1"/>
          <p:nvPr/>
        </p:nvSpPr>
        <p:spPr>
          <a:xfrm>
            <a:off x="3291840" y="64008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1600"/>
              </a:lnSpc>
            </a:pPr>
            <a:r>
              <a:rPr lang="en-US" sz="13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 xml:space="preserve">Approve stays blocked </a:t>
            </a:r>
            <a:r>
              <a:rPr lang="en-US" sz="1300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13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 xml:space="preserve"> re-test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17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SHE / K3. Permit board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Every permit by state, with its next approver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026408"/>
            <a:ext cx="885022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PTW</a:t>
            </a:r>
          </a:p>
        </p:txBody>
      </p:sp>
      <p:sp>
        <p:nvSpPr>
          <p:cNvPr id="59" name="Tag 59"/>
          <p:cNvSpPr/>
          <p:nvPr/>
        </p:nvSpPr>
        <p:spPr>
          <a:xfrm>
            <a:off x="2448646" y="4026408"/>
            <a:ext cx="84176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JSA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962651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904232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Requested, approved, active and suspended permits side by side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34811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676392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Failed gas tests flagged in red on the card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172200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Approve, issue, suspend or close from the board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726427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668008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Health tab: MCU fitness, licences due, B3 waste and fire equipment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she-permi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18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SERVICES. Human capital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HRIS for 2,562 people across four companies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164583"/>
            <a:ext cx="909942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HRIS</a:t>
            </a:r>
          </a:p>
        </p:txBody>
      </p:sp>
      <p:sp>
        <p:nvSpPr>
          <p:cNvPr id="59" name="Tag 59"/>
          <p:cNvSpPr/>
          <p:nvPr/>
        </p:nvSpPr>
        <p:spPr>
          <a:xfrm>
            <a:off x="2473566" y="4164583"/>
            <a:ext cx="830203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ESS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100827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5042408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Attendance, leave, overtime, payroll, contracts and recruitment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872987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814567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Org chart counts staff in every unit and the units below it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310375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Employees file leave and overtime from the ESS portal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806183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K3 training completion tracked with the HR records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hr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19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SERVICES. Finance and accounting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Payables, receivables and the close in one place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888232"/>
            <a:ext cx="781499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FIN</a:t>
            </a:r>
          </a:p>
        </p:txBody>
      </p:sp>
      <p:sp>
        <p:nvSpPr>
          <p:cNvPr id="59" name="Tag 59"/>
          <p:cNvSpPr/>
          <p:nvPr/>
        </p:nvSpPr>
        <p:spPr>
          <a:xfrm>
            <a:off x="2345123" y="3888232"/>
            <a:ext cx="1182021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e-Faktur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824476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76605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Journals, AP with 3-way match, AR, e-Faktur and vendor payments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53821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AP and AR aging; each bucket opens exactly its invoices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092443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034023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Journals waiting for approval with approve and reject in the row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806183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Bank reconciliation, petty cash, cash advances and period close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fin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/>
      <p:grpSp>
        <p:nvGrpSpPr>
          <p:cNvPr name="Group 41" id="41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46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SERVICES. Approval matrix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2844" y="9381859"/>
            <a:ext cx="16402311" cy="217503"/>
            <a:chOff x="0" y="0"/>
            <a:chExt cx="21869749" cy="290004"/>
          </a:xfrm>
        </p:grpSpPr>
        <p:sp>
          <p:nvSpPr>
            <p:cNvPr name="ftr_left" id="50"/>
            <p:cNvSpPr txBox="true"/>
            <p:nvPr/>
          </p:nvSpPr>
          <p:spPr>
            <a:xfrm rot="0">
              <a:off x="2249988" y="6669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20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6082239" y="6669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0889" cy="288051"/>
            </a:xfrm>
            <a:custGeom>
              <a:avLst/>
              <a:gdLst/>
              <a:ahLst/>
              <a:cxnLst/>
              <a:rect r="r" b="b" t="t" l="l"/>
              <a:pathLst>
                <a:path h="288051" w="920889">
                  <a:moveTo>
                    <a:pt x="0" y="0"/>
                  </a:moveTo>
                  <a:lnTo>
                    <a:pt x="920889" y="0"/>
                  </a:lnTo>
                  <a:lnTo>
                    <a:pt x="920889" y="288051"/>
                  </a:lnTo>
                  <a:lnTo>
                    <a:pt x="0" y="288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id="53" name="Title 53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Approval levels set by document, company and amount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graphicFrame>
        <p:nvGraphicFramePr>
          <p:cNvPr id="54" name="Table"/>
          <p:cNvGraphicFramePr>
            <a:graphicFrameLocks noGrp="1"/>
          </p:cNvGraphicFramePr>
          <p:nvPr/>
        </p:nvGraphicFramePr>
        <p:xfrm>
          <a:off x="932688" y="2377440"/>
          <a:ext cx="16413477" cy="548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82695"/>
                <a:gridCol w="2845003"/>
                <a:gridCol w="3501542"/>
                <a:gridCol w="3501542"/>
                <a:gridCol w="3282695"/>
              </a:tblGrid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Document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Amount band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Level 1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Level 2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Level 3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Purchase order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Up to Rp 500 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Head of Procurement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/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/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Purchase order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Above Rp 500 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Head of Procurement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Finance Controller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CFO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Requisition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Above Rp 1 B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Head of Procurement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CFO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/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Leave request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Above 5 days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HR Manager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HR Director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/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Payroll run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Any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HR Director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Finance Controller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CFO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Permit to work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Any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Safety Inspector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K3 Officer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SHE Manager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Journal entry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Above Rp 1 B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Chief Accountant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Finance Controller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/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Vendor payment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Any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Finance Controller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CFO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/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Scrap and disposal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Any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Inventory Controller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SHE Manager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0"/>
                        </a:lnSpc>
                      </a:pPr>
                      <a:r>
                        <a:rPr lang="en-US" sz="14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/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Note 55"/>
          <p:cNvSpPr txBox="1"/>
          <p:nvPr/>
        </p:nvSpPr>
        <p:spPr>
          <a:xfrm>
            <a:off x="932688" y="8065008"/>
            <a:ext cx="1641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sz="1300">
                <a:solidFill>
                  <a:srgbClr val="232323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Rules, levels, delegations and permission overrides are master data in System Administration.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SERVICES. Approval on the record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Each record shows who signed and who is next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888232"/>
            <a:ext cx="1281094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Multilevel</a:t>
            </a:r>
          </a:p>
        </p:txBody>
      </p:sp>
      <p:sp>
        <p:nvSpPr>
          <p:cNvPr id="59" name="Tag 59"/>
          <p:cNvSpPr/>
          <p:nvPr/>
        </p:nvSpPr>
        <p:spPr>
          <a:xfrm>
            <a:off x="2844718" y="3888232"/>
            <a:ext cx="1364483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Delegation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824476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76605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Approval chain card: signed levels, the current level and the rest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538216"/>
            <a:ext cx="516993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approve button names the level: "Approve, level 2 of 3"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31037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Delegations let a deputy sign while the approver is away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806184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rejection clears the signatures and starts the round again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perm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SERVICES. Administration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Settings are records, so admins change them without code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862072"/>
            <a:ext cx="16413480" cy="2624328"/>
          </a:xfrm>
          <a:prstGeom prst="roundRect">
            <a:avLst>
              <a:gd name="adj" fmla="val 3484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58" name="Card head 58"/>
          <p:cNvSpPr txBox="1"/>
          <p:nvPr/>
        </p:nvSpPr>
        <p:spPr>
          <a:xfrm>
            <a:off x="1344168" y="3209544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Roles and approval</a:t>
            </a:r>
          </a:p>
        </p:txBody>
      </p:sp>
      <p:sp>
        <p:nvSpPr>
          <p:cNvPr id="59" name="No 59"/>
          <p:cNvSpPr txBox="1"/>
          <p:nvPr/>
        </p:nvSpPr>
        <p:spPr>
          <a:xfrm>
            <a:off x="1344168" y="39136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60" name="Item 60"/>
          <p:cNvSpPr txBox="1"/>
          <p:nvPr/>
        </p:nvSpPr>
        <p:spPr>
          <a:xfrm>
            <a:off x="2029967" y="3913632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Roles from the user matrix, with permission overrides per module</a:t>
            </a:r>
          </a:p>
        </p:txBody>
      </p:sp>
      <p:sp>
        <p:nvSpPr>
          <p:cNvPr id="61" name="No 61"/>
          <p:cNvSpPr txBox="1"/>
          <p:nvPr/>
        </p:nvSpPr>
        <p:spPr>
          <a:xfrm>
            <a:off x="1344168" y="43708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2" name="Item 62"/>
          <p:cNvSpPr txBox="1"/>
          <p:nvPr/>
        </p:nvSpPr>
        <p:spPr>
          <a:xfrm>
            <a:off x="2029967" y="4370832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Approval matrix by document, company and amount, with SLA hours</a:t>
            </a:r>
          </a:p>
        </p:txBody>
      </p:sp>
      <p:sp>
        <p:nvSpPr>
          <p:cNvPr id="63" name="No 63"/>
          <p:cNvSpPr txBox="1"/>
          <p:nvPr/>
        </p:nvSpPr>
        <p:spPr>
          <a:xfrm>
            <a:off x="1344168" y="482803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64" name="Item 64"/>
          <p:cNvSpPr txBox="1"/>
          <p:nvPr/>
        </p:nvSpPr>
        <p:spPr>
          <a:xfrm>
            <a:off x="2029967" y="4828032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Delegations with start and end dates for approvers on leave</a:t>
            </a:r>
          </a:p>
        </p:txBody>
      </p:sp>
      <p:sp>
        <p:nvSpPr>
          <p:cNvPr id="65" name="Card 65"/>
          <p:cNvSpPr/>
          <p:nvPr/>
        </p:nvSpPr>
        <p:spPr>
          <a:xfrm>
            <a:off x="932688" y="5760720"/>
            <a:ext cx="16413480" cy="2624328"/>
          </a:xfrm>
          <a:prstGeom prst="roundRect">
            <a:avLst>
              <a:gd name="adj" fmla="val 348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6" name="Card head 66"/>
          <p:cNvSpPr txBox="1"/>
          <p:nvPr/>
        </p:nvSpPr>
        <p:spPr>
          <a:xfrm>
            <a:off x="1344168" y="6108192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General setup</a:t>
            </a:r>
          </a:p>
        </p:txBody>
      </p:sp>
      <p:sp>
        <p:nvSpPr>
          <p:cNvPr id="67" name="No 67"/>
          <p:cNvSpPr txBox="1"/>
          <p:nvPr/>
        </p:nvSpPr>
        <p:spPr>
          <a:xfrm>
            <a:off x="1344168" y="68122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68" name="Item 68"/>
          <p:cNvSpPr txBox="1"/>
          <p:nvPr/>
        </p:nvSpPr>
        <p:spPr>
          <a:xfrm>
            <a:off x="2029967" y="6812280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Number ranges, holiday calendar and notification templates</a:t>
            </a:r>
          </a:p>
        </p:txBody>
      </p:sp>
      <p:sp>
        <p:nvSpPr>
          <p:cNvPr id="69" name="No 69"/>
          <p:cNvSpPr txBox="1"/>
          <p:nvPr/>
        </p:nvSpPr>
        <p:spPr>
          <a:xfrm>
            <a:off x="1344168" y="72694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70" name="Item 70"/>
          <p:cNvSpPr txBox="1"/>
          <p:nvPr/>
        </p:nvSpPr>
        <p:spPr>
          <a:xfrm>
            <a:off x="2029967" y="7269480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Currencies, tax codes, company codes, plants and cost centres</a:t>
            </a:r>
          </a:p>
        </p:txBody>
      </p:sp>
      <p:sp>
        <p:nvSpPr>
          <p:cNvPr id="71" name="No 71"/>
          <p:cNvSpPr txBox="1"/>
          <p:nvPr/>
        </p:nvSpPr>
        <p:spPr>
          <a:xfrm>
            <a:off x="1344168" y="77266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72" name="Item 72"/>
          <p:cNvSpPr txBox="1"/>
          <p:nvPr/>
        </p:nvSpPr>
        <p:spPr>
          <a:xfrm>
            <a:off x="2029967" y="7726680"/>
            <a:ext cx="1490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Every change keeps its history on the record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DELIVERY. Scrum SDLC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Working software every two weeks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903220"/>
            <a:ext cx="2542032" cy="3566160"/>
          </a:xfrm>
          <a:prstGeom prst="roundRect">
            <a:avLst>
              <a:gd name="adj" fmla="val 359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ep no 58"/>
          <p:cNvSpPr txBox="1"/>
          <p:nvPr/>
        </p:nvSpPr>
        <p:spPr>
          <a:xfrm>
            <a:off x="1225296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59" name="Step title 59"/>
          <p:cNvSpPr txBox="1"/>
          <p:nvPr/>
        </p:nvSpPr>
        <p:spPr>
          <a:xfrm>
            <a:off x="1225296" y="4274820"/>
            <a:ext cx="208483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Backlog</a:t>
            </a:r>
          </a:p>
        </p:txBody>
      </p:sp>
      <p:sp>
        <p:nvSpPr>
          <p:cNvPr id="60" name="Step desc 60"/>
          <p:cNvSpPr txBox="1"/>
          <p:nvPr/>
        </p:nvSpPr>
        <p:spPr>
          <a:xfrm>
            <a:off x="1225296" y="4777740"/>
            <a:ext cx="1956815" cy="787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Product Owner orders features from the scope and user matrix</a:t>
            </a:r>
          </a:p>
        </p:txBody>
      </p:sp>
      <p:sp>
        <p:nvSpPr>
          <p:cNvPr id="61" name="Card 61"/>
          <p:cNvSpPr/>
          <p:nvPr/>
        </p:nvSpPr>
        <p:spPr>
          <a:xfrm>
            <a:off x="3706977" y="2903220"/>
            <a:ext cx="2542032" cy="3566160"/>
          </a:xfrm>
          <a:prstGeom prst="roundRect">
            <a:avLst>
              <a:gd name="adj" fmla="val 359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2" name="Step no 62"/>
          <p:cNvSpPr txBox="1"/>
          <p:nvPr/>
        </p:nvSpPr>
        <p:spPr>
          <a:xfrm>
            <a:off x="3999585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3" name="Step title 63"/>
          <p:cNvSpPr txBox="1"/>
          <p:nvPr/>
        </p:nvSpPr>
        <p:spPr>
          <a:xfrm>
            <a:off x="3999585" y="4274820"/>
            <a:ext cx="208483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Planning</a:t>
            </a:r>
          </a:p>
        </p:txBody>
      </p:sp>
      <p:sp>
        <p:nvSpPr>
          <p:cNvPr id="64" name="Step desc 64"/>
          <p:cNvSpPr txBox="1"/>
          <p:nvPr/>
        </p:nvSpPr>
        <p:spPr>
          <a:xfrm>
            <a:off x="3999585" y="4777740"/>
            <a:ext cx="1956815" cy="787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team commits to a sprint goal and the stories that meet it</a:t>
            </a:r>
          </a:p>
        </p:txBody>
      </p:sp>
      <p:sp>
        <p:nvSpPr>
          <p:cNvPr id="65" name="Card 65"/>
          <p:cNvSpPr/>
          <p:nvPr/>
        </p:nvSpPr>
        <p:spPr>
          <a:xfrm>
            <a:off x="6481267" y="2903220"/>
            <a:ext cx="2542032" cy="3566160"/>
          </a:xfrm>
          <a:prstGeom prst="roundRect">
            <a:avLst>
              <a:gd name="adj" fmla="val 359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6" name="Step no 66"/>
          <p:cNvSpPr txBox="1"/>
          <p:nvPr/>
        </p:nvSpPr>
        <p:spPr>
          <a:xfrm>
            <a:off x="6773875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67" name="Step title 67"/>
          <p:cNvSpPr txBox="1"/>
          <p:nvPr/>
        </p:nvSpPr>
        <p:spPr>
          <a:xfrm>
            <a:off x="6773875" y="4274820"/>
            <a:ext cx="208483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Build</a:t>
            </a:r>
          </a:p>
        </p:txBody>
      </p:sp>
      <p:sp>
        <p:nvSpPr>
          <p:cNvPr id="68" name="Step desc 68"/>
          <p:cNvSpPr txBox="1"/>
          <p:nvPr/>
        </p:nvSpPr>
        <p:spPr>
          <a:xfrm>
            <a:off x="6773875" y="4777740"/>
            <a:ext cx="1956815" cy="787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Daily stand-up; code review and automated tests on every merge</a:t>
            </a:r>
          </a:p>
        </p:txBody>
      </p:sp>
      <p:sp>
        <p:nvSpPr>
          <p:cNvPr id="69" name="Card 69"/>
          <p:cNvSpPr/>
          <p:nvPr/>
        </p:nvSpPr>
        <p:spPr>
          <a:xfrm>
            <a:off x="9255556" y="2903220"/>
            <a:ext cx="2542032" cy="3566160"/>
          </a:xfrm>
          <a:prstGeom prst="roundRect">
            <a:avLst>
              <a:gd name="adj" fmla="val 359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0" name="Step no 70"/>
          <p:cNvSpPr txBox="1"/>
          <p:nvPr/>
        </p:nvSpPr>
        <p:spPr>
          <a:xfrm>
            <a:off x="9548164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04</a:t>
            </a:r>
          </a:p>
        </p:txBody>
      </p:sp>
      <p:sp>
        <p:nvSpPr>
          <p:cNvPr id="71" name="Step title 71"/>
          <p:cNvSpPr txBox="1"/>
          <p:nvPr/>
        </p:nvSpPr>
        <p:spPr>
          <a:xfrm>
            <a:off x="9548164" y="4274820"/>
            <a:ext cx="208483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Test</a:t>
            </a:r>
          </a:p>
        </p:txBody>
      </p:sp>
      <p:sp>
        <p:nvSpPr>
          <p:cNvPr id="72" name="Step desc 72"/>
          <p:cNvSpPr txBox="1"/>
          <p:nvPr/>
        </p:nvSpPr>
        <p:spPr>
          <a:xfrm>
            <a:off x="9548164" y="4777740"/>
            <a:ext cx="1956815" cy="787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QA in staging; key users run UAT on finished stories</a:t>
            </a:r>
          </a:p>
        </p:txBody>
      </p:sp>
      <p:sp>
        <p:nvSpPr>
          <p:cNvPr id="73" name="Card 73"/>
          <p:cNvSpPr/>
          <p:nvPr/>
        </p:nvSpPr>
        <p:spPr>
          <a:xfrm>
            <a:off x="12029846" y="2903220"/>
            <a:ext cx="2542032" cy="3566160"/>
          </a:xfrm>
          <a:prstGeom prst="roundRect">
            <a:avLst>
              <a:gd name="adj" fmla="val 359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4" name="Step no 74"/>
          <p:cNvSpPr txBox="1"/>
          <p:nvPr/>
        </p:nvSpPr>
        <p:spPr>
          <a:xfrm>
            <a:off x="12322454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05</a:t>
            </a:r>
          </a:p>
        </p:txBody>
      </p:sp>
      <p:sp>
        <p:nvSpPr>
          <p:cNvPr id="75" name="Step title 75"/>
          <p:cNvSpPr txBox="1"/>
          <p:nvPr/>
        </p:nvSpPr>
        <p:spPr>
          <a:xfrm>
            <a:off x="12322454" y="4274820"/>
            <a:ext cx="208483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Review</a:t>
            </a:r>
          </a:p>
        </p:txBody>
      </p:sp>
      <p:sp>
        <p:nvSpPr>
          <p:cNvPr id="76" name="Step desc 76"/>
          <p:cNvSpPr txBox="1"/>
          <p:nvPr/>
        </p:nvSpPr>
        <p:spPr>
          <a:xfrm>
            <a:off x="12322454" y="4777740"/>
            <a:ext cx="1956815" cy="787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team demos working software to Satona each sprint</a:t>
            </a:r>
          </a:p>
        </p:txBody>
      </p:sp>
      <p:sp>
        <p:nvSpPr>
          <p:cNvPr id="77" name="Card 77"/>
          <p:cNvSpPr/>
          <p:nvPr/>
        </p:nvSpPr>
        <p:spPr>
          <a:xfrm>
            <a:off x="14804135" y="2903220"/>
            <a:ext cx="2542032" cy="3566160"/>
          </a:xfrm>
          <a:prstGeom prst="roundRect">
            <a:avLst>
              <a:gd name="adj" fmla="val 359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8" name="Step no 78"/>
          <p:cNvSpPr txBox="1"/>
          <p:nvPr/>
        </p:nvSpPr>
        <p:spPr>
          <a:xfrm>
            <a:off x="15096743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06</a:t>
            </a:r>
          </a:p>
        </p:txBody>
      </p:sp>
      <p:sp>
        <p:nvSpPr>
          <p:cNvPr id="79" name="Step title 79"/>
          <p:cNvSpPr txBox="1"/>
          <p:nvPr/>
        </p:nvSpPr>
        <p:spPr>
          <a:xfrm>
            <a:off x="15096743" y="4274820"/>
            <a:ext cx="208483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85"/>
              </a:lnSpc>
            </a:pPr>
            <a:r>
              <a:rPr lang="en-US" sz="19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Retro</a:t>
            </a:r>
          </a:p>
        </p:txBody>
      </p:sp>
      <p:sp>
        <p:nvSpPr>
          <p:cNvPr id="80" name="Step desc 80"/>
          <p:cNvSpPr txBox="1"/>
          <p:nvPr/>
        </p:nvSpPr>
        <p:spPr>
          <a:xfrm>
            <a:off x="15096743" y="4777740"/>
            <a:ext cx="1956815" cy="787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46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team agrees one or two improvements for the next sprint</a:t>
            </a:r>
          </a:p>
        </p:txBody>
      </p:sp>
      <p:sp>
        <p:nvSpPr>
          <p:cNvPr id="81" name="Arrow dot 81"/>
          <p:cNvSpPr/>
          <p:nvPr/>
        </p:nvSpPr>
        <p:spPr>
          <a:xfrm>
            <a:off x="3398824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82" name="Arrow 82"/>
          <p:cNvSpPr/>
          <p:nvPr/>
        </p:nvSpPr>
        <p:spPr>
          <a:xfrm>
            <a:off x="3513124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3" name="Arrow dot 83"/>
          <p:cNvSpPr/>
          <p:nvPr/>
        </p:nvSpPr>
        <p:spPr>
          <a:xfrm>
            <a:off x="6173114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84" name="Arrow 84"/>
          <p:cNvSpPr/>
          <p:nvPr/>
        </p:nvSpPr>
        <p:spPr>
          <a:xfrm>
            <a:off x="6287414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5" name="Arrow dot 85"/>
          <p:cNvSpPr/>
          <p:nvPr/>
        </p:nvSpPr>
        <p:spPr>
          <a:xfrm>
            <a:off x="8947403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86" name="Arrow 86"/>
          <p:cNvSpPr/>
          <p:nvPr/>
        </p:nvSpPr>
        <p:spPr>
          <a:xfrm>
            <a:off x="9061703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7" name="Arrow dot 87"/>
          <p:cNvSpPr/>
          <p:nvPr/>
        </p:nvSpPr>
        <p:spPr>
          <a:xfrm>
            <a:off x="11721693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88" name="Arrow 88"/>
          <p:cNvSpPr/>
          <p:nvPr/>
        </p:nvSpPr>
        <p:spPr>
          <a:xfrm>
            <a:off x="11835993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9" name="Arrow dot 89"/>
          <p:cNvSpPr/>
          <p:nvPr/>
        </p:nvSpPr>
        <p:spPr>
          <a:xfrm>
            <a:off x="14495983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90" name="Arrow 90"/>
          <p:cNvSpPr/>
          <p:nvPr/>
        </p:nvSpPr>
        <p:spPr>
          <a:xfrm>
            <a:off x="14610283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1" name="Callout 91"/>
          <p:cNvSpPr/>
          <p:nvPr/>
        </p:nvSpPr>
        <p:spPr>
          <a:xfrm>
            <a:off x="932688" y="6789420"/>
            <a:ext cx="16413480" cy="1234440"/>
          </a:xfrm>
          <a:prstGeom prst="roundRect">
            <a:avLst>
              <a:gd name="adj" fmla="val 7407"/>
            </a:avLst>
          </a:prstGeom>
          <a:solidFill>
            <a:srgbClr val="000000">
              <a:alpha val="35294"/>
            </a:srgbClr>
          </a:soli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502920" tIns="0" rIns="502920" bIns="0" anchor="ctr" rtlCol="0">
            <a:noAutofit/>
          </a:bodyPr>
          <a:lstStyle/>
          <a:p>
            <a:pPr algn="l">
              <a:lnSpc>
                <a:spcPts val="2600"/>
              </a:lnSpc>
            </a:pPr>
            <a:r>
              <a:rPr lang="en-US" sz="1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 xml:space="preserve">Two-week sprints. </a:t>
            </a:r>
            <a:r>
              <a:rPr lang="en-US" sz="180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Each sprint ends with a release candidate in staging; production gets it at the next release.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/>
      <p:grpSp>
        <p:nvGrpSpPr>
          <p:cNvPr name="Group 41" id="41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46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DELIVERY. Ceremonies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2844" y="9381859"/>
            <a:ext cx="16402311" cy="217503"/>
            <a:chOff x="0" y="0"/>
            <a:chExt cx="21869749" cy="290004"/>
          </a:xfrm>
        </p:grpSpPr>
        <p:sp>
          <p:nvSpPr>
            <p:cNvPr name="ftr_left" id="50"/>
            <p:cNvSpPr txBox="true"/>
            <p:nvPr/>
          </p:nvSpPr>
          <p:spPr>
            <a:xfrm rot="0">
              <a:off x="2249988" y="6669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24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6082239" y="6669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0889" cy="288051"/>
            </a:xfrm>
            <a:custGeom>
              <a:avLst/>
              <a:gdLst/>
              <a:ahLst/>
              <a:cxnLst/>
              <a:rect r="r" b="b" t="t" l="l"/>
              <a:pathLst>
                <a:path h="288051" w="920889">
                  <a:moveTo>
                    <a:pt x="0" y="0"/>
                  </a:moveTo>
                  <a:lnTo>
                    <a:pt x="920889" y="0"/>
                  </a:lnTo>
                  <a:lnTo>
                    <a:pt x="920889" y="288051"/>
                  </a:lnTo>
                  <a:lnTo>
                    <a:pt x="0" y="288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id="53" name="Title 53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Every ceremony has an owner and an output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graphicFrame>
        <p:nvGraphicFramePr>
          <p:cNvPr id="54" name="Table"/>
          <p:cNvGraphicFramePr>
            <a:graphicFrameLocks noGrp="1"/>
          </p:cNvGraphicFramePr>
          <p:nvPr/>
        </p:nvGraphicFramePr>
        <p:xfrm>
          <a:off x="932688" y="2377440"/>
          <a:ext cx="16413480" cy="55046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19475"/>
                <a:gridCol w="3419475"/>
                <a:gridCol w="4787265"/>
                <a:gridCol w="4787265"/>
              </a:tblGrid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Ceremony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When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Who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Output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Sprint planning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Day 1, 2 hours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Product Owner, Scrum Master, team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Sprint goal and sprint backlog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Daily stand-up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Every day, 15 minutes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Development team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Blockers raised and owned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Backlog refinement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Mid-sprint, 1 hour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Product Owner, team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Ready stories for the next sprint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Sprint review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Last day, 1 hour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Team and Satona stakeholders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Accepted increment and feedback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Retrospective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Last day, 1 hour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Team and Scrum Master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Improvement actions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Release and UAT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Each release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Key users and QA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10"/>
                        </a:lnSpc>
                      </a:pPr>
                      <a:r>
                        <a:rPr lang="en-US" sz="1700" b="1">
                          <a:solidFill>
                            <a:srgbClr val="232323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Sign-off to go live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25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DELIVERY. Quality gates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 story enters a sprint ready and leaves it done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862072"/>
            <a:ext cx="16413480" cy="2624328"/>
          </a:xfrm>
          <a:prstGeom prst="roundRect">
            <a:avLst>
              <a:gd name="adj" fmla="val 348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Card head 58"/>
          <p:cNvSpPr txBox="1"/>
          <p:nvPr/>
        </p:nvSpPr>
        <p:spPr>
          <a:xfrm>
            <a:off x="1344168" y="3209544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Definition of ready</a:t>
            </a:r>
          </a:p>
        </p:txBody>
      </p:sp>
      <p:pic>
        <p:nvPicPr>
          <p:cNvPr id="59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4168" y="3971036"/>
            <a:ext cx="186944" cy="186944"/>
          </a:xfrm>
          <a:prstGeom prst="rect">
            <a:avLst/>
          </a:prstGeom>
        </p:spPr>
      </p:pic>
      <p:sp>
        <p:nvSpPr>
          <p:cNvPr id="60" name="Item 60"/>
          <p:cNvSpPr txBox="1"/>
          <p:nvPr/>
        </p:nvSpPr>
        <p:spPr>
          <a:xfrm>
            <a:off x="1728216" y="3913632"/>
            <a:ext cx="15206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Acceptance criteria and the role that uses the story</a:t>
            </a:r>
          </a:p>
        </p:txBody>
      </p:sp>
      <p:pic>
        <p:nvPicPr>
          <p:cNvPr id="6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4168" y="4428236"/>
            <a:ext cx="186944" cy="186944"/>
          </a:xfrm>
          <a:prstGeom prst="rect">
            <a:avLst/>
          </a:prstGeom>
        </p:spPr>
      </p:pic>
      <p:sp>
        <p:nvSpPr>
          <p:cNvPr id="62" name="Item 62"/>
          <p:cNvSpPr txBox="1"/>
          <p:nvPr/>
        </p:nvSpPr>
        <p:spPr>
          <a:xfrm>
            <a:off x="1728216" y="4370832"/>
            <a:ext cx="15206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Record types, fields and workflow states agreed</a:t>
            </a:r>
          </a:p>
        </p:txBody>
      </p:sp>
      <p:pic>
        <p:nvPicPr>
          <p:cNvPr id="6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4168" y="4885436"/>
            <a:ext cx="186944" cy="186944"/>
          </a:xfrm>
          <a:prstGeom prst="rect">
            <a:avLst/>
          </a:prstGeom>
        </p:spPr>
      </p:pic>
      <p:sp>
        <p:nvSpPr>
          <p:cNvPr id="64" name="Item 64"/>
          <p:cNvSpPr txBox="1"/>
          <p:nvPr/>
        </p:nvSpPr>
        <p:spPr>
          <a:xfrm>
            <a:off x="1728216" y="4828032"/>
            <a:ext cx="15206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Designs and test data available</a:t>
            </a:r>
          </a:p>
        </p:txBody>
      </p:sp>
      <p:sp>
        <p:nvSpPr>
          <p:cNvPr id="65" name="Card 65"/>
          <p:cNvSpPr/>
          <p:nvPr/>
        </p:nvSpPr>
        <p:spPr>
          <a:xfrm>
            <a:off x="932688" y="5760720"/>
            <a:ext cx="16413480" cy="2624328"/>
          </a:xfrm>
          <a:prstGeom prst="roundRect">
            <a:avLst>
              <a:gd name="adj" fmla="val 3484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66" name="Card head 66"/>
          <p:cNvSpPr txBox="1"/>
          <p:nvPr/>
        </p:nvSpPr>
        <p:spPr>
          <a:xfrm>
            <a:off x="1344168" y="6108192"/>
            <a:ext cx="15590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Definition of done</a:t>
            </a:r>
          </a:p>
        </p:txBody>
      </p:sp>
      <p:pic>
        <p:nvPicPr>
          <p:cNvPr id="67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4168" y="6869684"/>
            <a:ext cx="186944" cy="186944"/>
          </a:xfrm>
          <a:prstGeom prst="rect">
            <a:avLst/>
          </a:prstGeom>
        </p:spPr>
      </p:pic>
      <p:sp>
        <p:nvSpPr>
          <p:cNvPr id="68" name="Item 68"/>
          <p:cNvSpPr txBox="1"/>
          <p:nvPr/>
        </p:nvSpPr>
        <p:spPr>
          <a:xfrm>
            <a:off x="1728216" y="6812280"/>
            <a:ext cx="15206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Code reviewed; unit and API tests pass in CI</a:t>
            </a:r>
          </a:p>
        </p:txBody>
      </p:sp>
      <p:pic>
        <p:nvPicPr>
          <p:cNvPr id="69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4168" y="7326884"/>
            <a:ext cx="186944" cy="186944"/>
          </a:xfrm>
          <a:prstGeom prst="rect">
            <a:avLst/>
          </a:prstGeom>
        </p:spPr>
      </p:pic>
      <p:sp>
        <p:nvSpPr>
          <p:cNvPr id="70" name="Item 70"/>
          <p:cNvSpPr txBox="1"/>
          <p:nvPr/>
        </p:nvSpPr>
        <p:spPr>
          <a:xfrm>
            <a:off x="1728216" y="7269480"/>
            <a:ext cx="15206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Deployed to staging and passes the UI checks: no overflow, both themes</a:t>
            </a:r>
          </a:p>
        </p:txBody>
      </p:sp>
      <p:pic>
        <p:nvPicPr>
          <p:cNvPr id="7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4168" y="7784084"/>
            <a:ext cx="186944" cy="186944"/>
          </a:xfrm>
          <a:prstGeom prst="rect">
            <a:avLst/>
          </a:prstGeom>
        </p:spPr>
      </p:pic>
      <p:sp>
        <p:nvSpPr>
          <p:cNvPr id="72" name="Item 72"/>
          <p:cNvSpPr txBox="1"/>
          <p:nvPr/>
        </p:nvSpPr>
        <p:spPr>
          <a:xfrm>
            <a:off x="1728216" y="7726680"/>
            <a:ext cx="15206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Product Owner accepts it in the sprint 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26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ARCHITECTURE. Microservice-ready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One service per business domain, behind one gateway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331720"/>
            <a:ext cx="5288279" cy="73152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Web console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React, role-based menus</a:t>
            </a:r>
          </a:p>
        </p:txBody>
      </p:sp>
      <p:sp>
        <p:nvSpPr>
          <p:cNvPr id="58" name="Card 58"/>
          <p:cNvSpPr/>
          <p:nvPr/>
        </p:nvSpPr>
        <p:spPr>
          <a:xfrm>
            <a:off x="6495287" y="2331720"/>
            <a:ext cx="5288279" cy="73152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Phone and driver app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Check-in, ESS, approvals</a:t>
            </a:r>
          </a:p>
        </p:txBody>
      </p:sp>
      <p:sp>
        <p:nvSpPr>
          <p:cNvPr id="59" name="Card 59"/>
          <p:cNvSpPr/>
          <p:nvPr/>
        </p:nvSpPr>
        <p:spPr>
          <a:xfrm>
            <a:off x="12057887" y="2331720"/>
            <a:ext cx="5288279" cy="73152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Partner portals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Vendors, distributors, contractors</a:t>
            </a:r>
          </a:p>
        </p:txBody>
      </p:sp>
      <p:cxnSp>
        <p:nvCxnSpPr>
          <p:cNvPr id="60" name="Connector 60"/>
          <p:cNvCxnSpPr/>
          <p:nvPr/>
        </p:nvCxnSpPr>
        <p:spPr>
          <a:xfrm>
            <a:off x="9144000" y="3090672"/>
            <a:ext cx="0" cy="219456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61" name="Card 61"/>
          <p:cNvSpPr/>
          <p:nvPr/>
        </p:nvSpPr>
        <p:spPr>
          <a:xfrm>
            <a:off x="932688" y="3337560"/>
            <a:ext cx="16413480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610"/>
              </a:lnSpc>
            </a:pPr>
            <a:r>
              <a:rPr lang="en-US" sz="14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 xml:space="preserve">API gateway  ·  Keycloak SSO and role tokens  ·  audit log</a:t>
            </a:r>
          </a:p>
        </p:txBody>
      </p:sp>
      <p:cxnSp>
        <p:nvCxnSpPr>
          <p:cNvPr id="62" name="Connector 62"/>
          <p:cNvCxnSpPr/>
          <p:nvPr/>
        </p:nvCxnSpPr>
        <p:spPr>
          <a:xfrm>
            <a:off x="9144000" y="3931920"/>
            <a:ext cx="0" cy="22860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63" name="Card 63"/>
          <p:cNvSpPr/>
          <p:nvPr/>
        </p:nvSpPr>
        <p:spPr>
          <a:xfrm>
            <a:off x="932688" y="4187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Identity and access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SYS roles, permissions</a:t>
            </a:r>
          </a:p>
        </p:txBody>
      </p:sp>
      <p:sp>
        <p:nvSpPr>
          <p:cNvPr id="64" name="Card 64"/>
          <p:cNvSpPr/>
          <p:nvPr/>
        </p:nvSpPr>
        <p:spPr>
          <a:xfrm>
            <a:off x="4261104" y="4187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Master data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MDM, company codes, plants</a:t>
            </a:r>
          </a:p>
        </p:txBody>
      </p:sp>
      <p:sp>
        <p:nvSpPr>
          <p:cNvPr id="65" name="Card 65"/>
          <p:cNvSpPr/>
          <p:nvPr/>
        </p:nvSpPr>
        <p:spPr>
          <a:xfrm>
            <a:off x="7589519" y="4187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Workflow and approval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Matrix, levels, delegations</a:t>
            </a:r>
          </a:p>
        </p:txBody>
      </p:sp>
      <p:sp>
        <p:nvSpPr>
          <p:cNvPr id="66" name="Card 66"/>
          <p:cNvSpPr/>
          <p:nvPr/>
        </p:nvSpPr>
        <p:spPr>
          <a:xfrm>
            <a:off x="10917935" y="4187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Finance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FIN, EPM, FBL, GRC</a:t>
            </a:r>
          </a:p>
        </p:txBody>
      </p:sp>
      <p:sp>
        <p:nvSpPr>
          <p:cNvPr id="67" name="Card 67"/>
          <p:cNvSpPr/>
          <p:nvPr/>
        </p:nvSpPr>
        <p:spPr>
          <a:xfrm>
            <a:off x="14246351" y="4187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Procurement and stock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VMS, INV, WMS</a:t>
            </a:r>
          </a:p>
        </p:txBody>
      </p:sp>
      <p:sp>
        <p:nvSpPr>
          <p:cNvPr id="68" name="Card 68"/>
          <p:cNvSpPr/>
          <p:nvPr/>
        </p:nvSpPr>
        <p:spPr>
          <a:xfrm>
            <a:off x="932688" y="5330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Human capital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HRS, ESS, GAS</a:t>
            </a:r>
          </a:p>
        </p:txBody>
      </p:sp>
      <p:sp>
        <p:nvSpPr>
          <p:cNvPr id="69" name="Card 69"/>
          <p:cNvSpPr/>
          <p:nvPr/>
        </p:nvSpPr>
        <p:spPr>
          <a:xfrm>
            <a:off x="4261104" y="5330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SHE / K3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Permits, incidents, MCU</a:t>
            </a:r>
          </a:p>
        </p:txBody>
      </p:sp>
      <p:sp>
        <p:nvSpPr>
          <p:cNvPr id="70" name="Card 70"/>
          <p:cNvSpPr/>
          <p:nvPr/>
        </p:nvSpPr>
        <p:spPr>
          <a:xfrm>
            <a:off x="7589519" y="5330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Logistics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TMS, HAZ, DMS, devices</a:t>
            </a:r>
          </a:p>
        </p:txBody>
      </p:sp>
      <p:sp>
        <p:nvSpPr>
          <p:cNvPr id="71" name="Card 71"/>
          <p:cNvSpPr/>
          <p:nvPr/>
        </p:nvSpPr>
        <p:spPr>
          <a:xfrm>
            <a:off x="10917935" y="5330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Plant operations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MES, EAM, QC, BPF, MRP</a:t>
            </a:r>
          </a:p>
        </p:txBody>
      </p:sp>
      <p:sp>
        <p:nvSpPr>
          <p:cNvPr id="72" name="Card 72"/>
          <p:cNvSpPr/>
          <p:nvPr/>
        </p:nvSpPr>
        <p:spPr>
          <a:xfrm>
            <a:off x="14246351" y="5330952"/>
            <a:ext cx="3099815" cy="96012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Process and storage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CFP, TFM, GTR, EHS</a:t>
            </a:r>
          </a:p>
        </p:txBody>
      </p:sp>
      <p:cxnSp>
        <p:nvCxnSpPr>
          <p:cNvPr id="73" name="Connector 73"/>
          <p:cNvCxnSpPr/>
          <p:nvPr/>
        </p:nvCxnSpPr>
        <p:spPr>
          <a:xfrm>
            <a:off x="9144000" y="6309360"/>
            <a:ext cx="0" cy="201167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74" name="Card 74"/>
          <p:cNvSpPr/>
          <p:nvPr/>
        </p:nvSpPr>
        <p:spPr>
          <a:xfrm>
            <a:off x="932688" y="6537960"/>
            <a:ext cx="16413480" cy="566928"/>
          </a:xfrm>
          <a:prstGeom prst="roundRect">
            <a:avLst>
              <a:gd name="adj" fmla="val 1612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610"/>
              </a:lnSpc>
            </a:pPr>
            <a:r>
              <a:rPr lang="en-US" sz="14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 xml:space="preserve">Event bus  ·  RecordCreated, StatusChanged, ApprovalSigned, AlarmRaised</a:t>
            </a:r>
          </a:p>
        </p:txBody>
      </p:sp>
      <p:cxnSp>
        <p:nvCxnSpPr>
          <p:cNvPr id="75" name="Connector 75"/>
          <p:cNvCxnSpPr/>
          <p:nvPr/>
        </p:nvCxnSpPr>
        <p:spPr>
          <a:xfrm>
            <a:off x="9144000" y="7132320"/>
            <a:ext cx="0" cy="228600"/>
          </a:xfrm>
          <a:prstGeom prst="line">
            <a:avLst/>
          </a:prstGeom>
          <a:ln w="15875" cap="rnd">
            <a:solidFill>
              <a:srgbClr val="FFFFFF"/>
            </a:solidFill>
            <a:prstDash val="solid"/>
            <a:round/>
            <a:tailEnd type="triangle" w="med" len="med"/>
          </a:ln>
        </p:spPr>
      </p:cxnSp>
      <p:sp>
        <p:nvSpPr>
          <p:cNvPr id="76" name="Card 76"/>
          <p:cNvSpPr/>
          <p:nvPr/>
        </p:nvSpPr>
        <p:spPr>
          <a:xfrm>
            <a:off x="932688" y="7388352"/>
            <a:ext cx="5288279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Database per service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Each service owns its tables</a:t>
            </a:r>
          </a:p>
        </p:txBody>
      </p:sp>
      <p:sp>
        <p:nvSpPr>
          <p:cNvPr id="77" name="Card 77"/>
          <p:cNvSpPr/>
          <p:nvPr/>
        </p:nvSpPr>
        <p:spPr>
          <a:xfrm>
            <a:off x="6495287" y="7388352"/>
            <a:ext cx="5288279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Reporting and command centre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BI and OCC read from events</a:t>
            </a:r>
          </a:p>
        </p:txBody>
      </p:sp>
      <p:sp>
        <p:nvSpPr>
          <p:cNvPr id="78" name="Card 78"/>
          <p:cNvSpPr/>
          <p:nvPr/>
        </p:nvSpPr>
        <p:spPr>
          <a:xfrm>
            <a:off x="12057887" y="7388352"/>
            <a:ext cx="5288279" cy="868680"/>
          </a:xfrm>
          <a:prstGeom prst="roundRect">
            <a:avLst>
              <a:gd name="adj" fmla="val 1052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1725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Notifications</a:t>
            </a:r>
          </a:p>
          <a:p>
            <a:pPr algn="ctr">
              <a:lnSpc>
                <a:spcPts val="1400"/>
              </a:lnSpc>
            </a:pPr>
            <a:r>
              <a:rPr lang="en-US" sz="11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Email, WhatsApp, in-app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/>
      <p:grpSp>
        <p:nvGrpSpPr>
          <p:cNvPr name="Group 41" id="41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46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ARCHITECTURE. From demo to services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2844" y="9381859"/>
            <a:ext cx="16402311" cy="217503"/>
            <a:chOff x="0" y="0"/>
            <a:chExt cx="21869749" cy="290004"/>
          </a:xfrm>
        </p:grpSpPr>
        <p:sp>
          <p:nvSpPr>
            <p:cNvPr name="ftr_left" id="50"/>
            <p:cNvSpPr txBox="true"/>
            <p:nvPr/>
          </p:nvSpPr>
          <p:spPr>
            <a:xfrm rot="0">
              <a:off x="2249988" y="6669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27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16082239" y="6669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232323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20889" cy="288051"/>
            </a:xfrm>
            <a:custGeom>
              <a:avLst/>
              <a:gdLst/>
              <a:ahLst/>
              <a:cxnLst/>
              <a:rect r="r" b="b" t="t" l="l"/>
              <a:pathLst>
                <a:path h="288051" w="920889">
                  <a:moveTo>
                    <a:pt x="0" y="0"/>
                  </a:moveTo>
                  <a:lnTo>
                    <a:pt x="920889" y="0"/>
                  </a:lnTo>
                  <a:lnTo>
                    <a:pt x="920889" y="288051"/>
                  </a:lnTo>
                  <a:lnTo>
                    <a:pt x="0" y="288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id="53" name="Title 53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demo already splits along the same seams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4" name="Col head 54"/>
          <p:cNvSpPr txBox="1"/>
          <p:nvPr/>
        </p:nvSpPr>
        <p:spPr>
          <a:xfrm>
            <a:off x="2249424" y="2304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00"/>
              </a:lnSpc>
            </a:pPr>
            <a:r>
              <a:rPr lang="en-US" sz="2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In the demo today</a:t>
            </a:r>
          </a:p>
        </p:txBody>
      </p:sp>
      <p:sp>
        <p:nvSpPr>
          <p:cNvPr id="55" name="Col head 55"/>
          <p:cNvSpPr txBox="1"/>
          <p:nvPr/>
        </p:nvSpPr>
        <p:spPr>
          <a:xfrm>
            <a:off x="9656064" y="2304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00"/>
              </a:lnSpc>
            </a:pPr>
            <a:r>
              <a:rPr lang="en-US" sz="20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In production</a:t>
            </a:r>
          </a:p>
        </p:txBody>
      </p:sp>
      <p:sp>
        <p:nvSpPr>
          <p:cNvPr id="56" name="Row 56"/>
          <p:cNvSpPr/>
          <p:nvPr/>
        </p:nvSpPr>
        <p:spPr>
          <a:xfrm>
            <a:off x="923544" y="2816352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7" name="Num 57"/>
          <p:cNvSpPr txBox="1"/>
          <p:nvPr/>
        </p:nvSpPr>
        <p:spPr>
          <a:xfrm>
            <a:off x="1289304" y="2816352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58" name="Left 58"/>
          <p:cNvSpPr txBox="1"/>
          <p:nvPr/>
        </p:nvSpPr>
        <p:spPr>
          <a:xfrm>
            <a:off x="2249424" y="2816352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Clean architecture: domain and use cases carry no React</a:t>
            </a:r>
          </a:p>
        </p:txBody>
      </p:sp>
      <p:cxnSp>
        <p:nvCxnSpPr>
          <p:cNvPr id="59" name="Divider 59"/>
          <p:cNvCxnSpPr/>
          <p:nvPr/>
        </p:nvCxnSpPr>
        <p:spPr>
          <a:xfrm>
            <a:off x="9153144" y="2999232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3264408"/>
            <a:ext cx="237744" cy="237744"/>
          </a:xfrm>
          <a:prstGeom prst="rect">
            <a:avLst/>
          </a:prstGeom>
        </p:spPr>
      </p:pic>
      <p:sp>
        <p:nvSpPr>
          <p:cNvPr id="61" name="Right 61"/>
          <p:cNvSpPr txBox="1"/>
          <p:nvPr/>
        </p:nvSpPr>
        <p:spPr>
          <a:xfrm>
            <a:off x="10067544" y="2816352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Domain and use-case code moves into each service unchanged</a:t>
            </a:r>
          </a:p>
        </p:txBody>
      </p:sp>
      <p:sp>
        <p:nvSpPr>
          <p:cNvPr id="62" name="Row 62"/>
          <p:cNvSpPr/>
          <p:nvPr/>
        </p:nvSpPr>
        <p:spPr>
          <a:xfrm>
            <a:off x="923544" y="4059935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3" name="Num 63"/>
          <p:cNvSpPr txBox="1"/>
          <p:nvPr/>
        </p:nvSpPr>
        <p:spPr>
          <a:xfrm>
            <a:off x="1289304" y="4059935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4" name="Left 64"/>
          <p:cNvSpPr txBox="1"/>
          <p:nvPr/>
        </p:nvSpPr>
        <p:spPr>
          <a:xfrm>
            <a:off x="2249424" y="4059935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Pages call ports in application/ports.ts</a:t>
            </a:r>
          </a:p>
        </p:txBody>
      </p:sp>
      <p:cxnSp>
        <p:nvCxnSpPr>
          <p:cNvPr id="65" name="Divider 65"/>
          <p:cNvCxnSpPr/>
          <p:nvPr/>
        </p:nvCxnSpPr>
        <p:spPr>
          <a:xfrm>
            <a:off x="9153144" y="4242816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4507992"/>
            <a:ext cx="237744" cy="237744"/>
          </a:xfrm>
          <a:prstGeom prst="rect">
            <a:avLst/>
          </a:prstGeom>
        </p:spPr>
      </p:pic>
      <p:sp>
        <p:nvSpPr>
          <p:cNvPr id="67" name="Right 67"/>
          <p:cNvSpPr txBox="1"/>
          <p:nvPr/>
        </p:nvSpPr>
        <p:spPr>
          <a:xfrm>
            <a:off x="10067544" y="4059935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HTTP adapters call the service APIs behind the same ports</a:t>
            </a:r>
          </a:p>
        </p:txBody>
      </p:sp>
      <p:sp>
        <p:nvSpPr>
          <p:cNvPr id="68" name="Row 68"/>
          <p:cNvSpPr/>
          <p:nvPr/>
        </p:nvSpPr>
        <p:spPr>
          <a:xfrm>
            <a:off x="923544" y="5303519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9" name="Num 69"/>
          <p:cNvSpPr txBox="1"/>
          <p:nvPr/>
        </p:nvSpPr>
        <p:spPr>
          <a:xfrm>
            <a:off x="1289304" y="5303519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70" name="Left 70"/>
          <p:cNvSpPr txBox="1"/>
          <p:nvPr/>
        </p:nvSpPr>
        <p:spPr>
          <a:xfrm>
            <a:off x="2249424" y="5303519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Mock adapters; VITE_API_URL picks the source</a:t>
            </a:r>
          </a:p>
        </p:txBody>
      </p:sp>
      <p:cxnSp>
        <p:nvCxnSpPr>
          <p:cNvPr id="71" name="Divider 71"/>
          <p:cNvCxnSpPr/>
          <p:nvPr/>
        </p:nvCxnSpPr>
        <p:spPr>
          <a:xfrm>
            <a:off x="9153144" y="5486399"/>
            <a:ext cx="0" cy="768095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72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5751575"/>
            <a:ext cx="237744" cy="237744"/>
          </a:xfrm>
          <a:prstGeom prst="rect">
            <a:avLst/>
          </a:prstGeom>
        </p:spPr>
      </p:pic>
      <p:sp>
        <p:nvSpPr>
          <p:cNvPr id="73" name="Right 73"/>
          <p:cNvSpPr txBox="1"/>
          <p:nvPr/>
        </p:nvSpPr>
        <p:spPr>
          <a:xfrm>
            <a:off x="10067544" y="5303519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Point VITE_API_URL at the gateway; no page changes</a:t>
            </a:r>
          </a:p>
        </p:txBody>
      </p:sp>
      <p:sp>
        <p:nvSpPr>
          <p:cNvPr id="74" name="Row 74"/>
          <p:cNvSpPr/>
          <p:nvPr/>
        </p:nvSpPr>
        <p:spPr>
          <a:xfrm>
            <a:off x="923544" y="6547103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5" name="Num 75"/>
          <p:cNvSpPr txBox="1"/>
          <p:nvPr/>
        </p:nvSpPr>
        <p:spPr>
          <a:xfrm>
            <a:off x="1289304" y="6547103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04</a:t>
            </a:r>
          </a:p>
        </p:txBody>
      </p:sp>
      <p:sp>
        <p:nvSpPr>
          <p:cNvPr id="76" name="Left 76"/>
          <p:cNvSpPr txBox="1"/>
          <p:nvPr/>
        </p:nvSpPr>
        <p:spPr>
          <a:xfrm>
            <a:off x="2249424" y="6547103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Records live in memory and reset on reload</a:t>
            </a:r>
          </a:p>
        </p:txBody>
      </p:sp>
      <p:cxnSp>
        <p:nvCxnSpPr>
          <p:cNvPr id="77" name="Divider 77"/>
          <p:cNvCxnSpPr/>
          <p:nvPr/>
        </p:nvCxnSpPr>
        <p:spPr>
          <a:xfrm>
            <a:off x="9153144" y="6729983"/>
            <a:ext cx="0" cy="768096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78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6995159"/>
            <a:ext cx="237744" cy="237744"/>
          </a:xfrm>
          <a:prstGeom prst="rect">
            <a:avLst/>
          </a:prstGeom>
        </p:spPr>
      </p:pic>
      <p:sp>
        <p:nvSpPr>
          <p:cNvPr id="79" name="Right 79"/>
          <p:cNvSpPr txBox="1"/>
          <p:nvPr/>
        </p:nvSpPr>
        <p:spPr>
          <a:xfrm>
            <a:off x="10067544" y="6547103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Each service owns a database and publishes events</a:t>
            </a:r>
          </a:p>
        </p:txBody>
      </p:sp>
      <p:sp>
        <p:nvSpPr>
          <p:cNvPr id="80" name="Row 80"/>
          <p:cNvSpPr/>
          <p:nvPr/>
        </p:nvSpPr>
        <p:spPr>
          <a:xfrm>
            <a:off x="923544" y="7790687"/>
            <a:ext cx="16413480" cy="1133855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1" name="Num 81"/>
          <p:cNvSpPr txBox="1"/>
          <p:nvPr/>
        </p:nvSpPr>
        <p:spPr>
          <a:xfrm>
            <a:off x="1289304" y="7790687"/>
            <a:ext cx="82296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05</a:t>
            </a:r>
          </a:p>
        </p:txBody>
      </p:sp>
      <p:sp>
        <p:nvSpPr>
          <p:cNvPr id="82" name="Left 82"/>
          <p:cNvSpPr txBox="1"/>
          <p:nvPr/>
        </p:nvSpPr>
        <p:spPr>
          <a:xfrm>
            <a:off x="2249424" y="7790687"/>
            <a:ext cx="658368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Access and approval rules run in the browser</a:t>
            </a:r>
          </a:p>
        </p:txBody>
      </p:sp>
      <p:cxnSp>
        <p:nvCxnSpPr>
          <p:cNvPr id="83" name="Divider 83"/>
          <p:cNvCxnSpPr/>
          <p:nvPr/>
        </p:nvCxnSpPr>
        <p:spPr>
          <a:xfrm>
            <a:off x="9153144" y="7973567"/>
            <a:ext cx="0" cy="768096"/>
          </a:xfrm>
          <a:prstGeom prst="line">
            <a:avLst/>
          </a:prstGeom>
          <a:ln w="9525" cap="rnd">
            <a:solidFill>
              <a:srgbClr val="C0C0C0"/>
            </a:solidFill>
            <a:prstDash val="solid"/>
            <a:round/>
          </a:ln>
        </p:spPr>
      </p:cxnSp>
      <p:pic>
        <p:nvPicPr>
          <p:cNvPr id="84" name="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4" y="8238743"/>
            <a:ext cx="237744" cy="237744"/>
          </a:xfrm>
          <a:prstGeom prst="rect">
            <a:avLst/>
          </a:prstGeom>
        </p:spPr>
      </p:pic>
      <p:sp>
        <p:nvSpPr>
          <p:cNvPr id="85" name="Right 85"/>
          <p:cNvSpPr txBox="1"/>
          <p:nvPr/>
        </p:nvSpPr>
        <p:spPr>
          <a:xfrm>
            <a:off x="10067544" y="7790687"/>
            <a:ext cx="6858000" cy="113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ts val="2100"/>
              </a:lnSpc>
            </a:pPr>
            <a:r>
              <a:rPr lang="en-US" sz="1500" b="1">
                <a:solidFill>
                  <a:srgbClr val="232323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Services enforce them; Keycloak tokens carry the role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28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PLANNING. Release plan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Six releases in sixteen two-week sprints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graphicFrame>
        <p:nvGraphicFramePr>
          <p:cNvPr id="57" name="Table"/>
          <p:cNvGraphicFramePr>
            <a:graphicFrameLocks noGrp="1"/>
          </p:cNvGraphicFramePr>
          <p:nvPr/>
        </p:nvGraphicFramePr>
        <p:xfrm>
          <a:off x="932688" y="2377440"/>
          <a:ext cx="16413478" cy="5266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410593"/>
                <a:gridCol w="1492134"/>
                <a:gridCol w="7034348"/>
                <a:gridCol w="4476403"/>
              </a:tblGrid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Release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Sprints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Scope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Exit criteria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Sprint 0: foundation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1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Repositories, CI/CD, environments, Keycloak, gateway, event bus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Pipeline deploys to staging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R1: core platform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3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Identity, master data, workflow and approval, finance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Approval matrix live for real users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R2: logistics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3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TMS, WMS, HAZ, fleet devices, check-in, ADAS and DSM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Rotama runs trips in the ERP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R3: plants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4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MES, EAM, QC, BPF, MRP, tank farm, process, genealogy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Rodame and Roasi shifts recorded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R4: shared services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3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HRIS, SHE / K3, inventory, purchasing, service desk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Payroll and permits run live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R5: insight and go-live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2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BI, command centre, data migration, training, hypercare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Go-live sign-off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Total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16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About 32 weeks of build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15"/>
                        </a:lnSpc>
                      </a:pPr>
                      <a:r>
                        <a:rPr lang="en-US" sz="155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/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2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8" name="Note 58"/>
          <p:cNvSpPr txBox="1"/>
          <p:nvPr/>
        </p:nvSpPr>
        <p:spPr>
          <a:xfrm>
            <a:off x="932688" y="7845552"/>
            <a:ext cx="1641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sz="13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Proposed plan; the team confirms sprint counts and velocity in Sprint 0.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Satona ERP ©2026        www.wit.id        Page 29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PLANNING. Squads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Four squads, each owning its services end to end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3288284"/>
            <a:ext cx="3897630" cy="4441952"/>
          </a:xfrm>
          <a:prstGeom prst="roundRect">
            <a:avLst>
              <a:gd name="adj" fmla="val 234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atus 58"/>
          <p:cNvSpPr/>
          <p:nvPr/>
        </p:nvSpPr>
        <p:spPr>
          <a:xfrm>
            <a:off x="1298448" y="3654044"/>
            <a:ext cx="129511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1" spc="10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SQUAD 1</a:t>
            </a:r>
          </a:p>
        </p:txBody>
      </p:sp>
      <p:sp>
        <p:nvSpPr>
          <p:cNvPr id="59" name="Col head 59"/>
          <p:cNvSpPr txBox="1"/>
          <p:nvPr/>
        </p:nvSpPr>
        <p:spPr>
          <a:xfrm>
            <a:off x="1298448" y="4248404"/>
            <a:ext cx="325755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Platform</a:t>
            </a:r>
          </a:p>
        </p:txBody>
      </p:sp>
      <p:sp>
        <p:nvSpPr>
          <p:cNvPr id="60" name="Col sub 60"/>
          <p:cNvSpPr txBox="1"/>
          <p:nvPr/>
        </p:nvSpPr>
        <p:spPr>
          <a:xfrm>
            <a:off x="1298448" y="4824476"/>
            <a:ext cx="325755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7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Core services</a:t>
            </a:r>
          </a:p>
        </p:txBody>
      </p:sp>
      <p:cxnSp>
        <p:nvCxnSpPr>
          <p:cNvPr id="61" name="Rule 61"/>
          <p:cNvCxnSpPr/>
          <p:nvPr/>
        </p:nvCxnSpPr>
        <p:spPr>
          <a:xfrm>
            <a:off x="1298448" y="5391404"/>
            <a:ext cx="3166110" cy="0"/>
          </a:xfrm>
          <a:prstGeom prst="line">
            <a:avLst/>
          </a:prstGeom>
          <a:ln w="9525" cap="rnd">
            <a:solidFill>
              <a:srgbClr val="FFFFFF">
                <a:alpha val="35000"/>
              </a:srgbClr>
            </a:solidFill>
            <a:prstDash val="solid"/>
            <a:round/>
          </a:ln>
        </p:spPr>
      </p:cxn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5718556"/>
            <a:ext cx="163576" cy="163576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644904" y="5665724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Identity and access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6143244"/>
            <a:ext cx="163576" cy="163576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644904" y="6090412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Master data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6567931"/>
            <a:ext cx="163576" cy="163576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644904" y="6515100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Workflow and approval</a:t>
            </a:r>
          </a:p>
        </p:txBody>
      </p:sp>
      <p:pic>
        <p:nvPicPr>
          <p:cNvPr id="68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8448" y="6992619"/>
            <a:ext cx="163576" cy="163576"/>
          </a:xfrm>
          <a:prstGeom prst="rect">
            <a:avLst/>
          </a:prstGeom>
        </p:spPr>
      </p:pic>
      <p:sp>
        <p:nvSpPr>
          <p:cNvPr id="69" name="Bullet 69"/>
          <p:cNvSpPr txBox="1"/>
          <p:nvPr/>
        </p:nvSpPr>
        <p:spPr>
          <a:xfrm>
            <a:off x="1644904" y="6939788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Gateway and CI/CD</a:t>
            </a:r>
          </a:p>
        </p:txBody>
      </p:sp>
      <p:sp>
        <p:nvSpPr>
          <p:cNvPr id="70" name="Card 70"/>
          <p:cNvSpPr/>
          <p:nvPr/>
        </p:nvSpPr>
        <p:spPr>
          <a:xfrm>
            <a:off x="5104638" y="3288284"/>
            <a:ext cx="3897630" cy="4441952"/>
          </a:xfrm>
          <a:prstGeom prst="roundRect">
            <a:avLst>
              <a:gd name="adj" fmla="val 234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71" name="Status 71"/>
          <p:cNvSpPr/>
          <p:nvPr/>
        </p:nvSpPr>
        <p:spPr>
          <a:xfrm>
            <a:off x="5470398" y="3654044"/>
            <a:ext cx="132417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1" spc="10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SQUAD 2</a:t>
            </a:r>
          </a:p>
        </p:txBody>
      </p:sp>
      <p:sp>
        <p:nvSpPr>
          <p:cNvPr id="72" name="Col head 72"/>
          <p:cNvSpPr txBox="1"/>
          <p:nvPr/>
        </p:nvSpPr>
        <p:spPr>
          <a:xfrm>
            <a:off x="5470398" y="4248404"/>
            <a:ext cx="325755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Logistics</a:t>
            </a:r>
          </a:p>
        </p:txBody>
      </p:sp>
      <p:sp>
        <p:nvSpPr>
          <p:cNvPr id="73" name="Col sub 73"/>
          <p:cNvSpPr txBox="1"/>
          <p:nvPr/>
        </p:nvSpPr>
        <p:spPr>
          <a:xfrm>
            <a:off x="5470398" y="4824476"/>
            <a:ext cx="325755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7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Rotama</a:t>
            </a:r>
          </a:p>
        </p:txBody>
      </p:sp>
      <p:cxnSp>
        <p:nvCxnSpPr>
          <p:cNvPr id="74" name="Rule 74"/>
          <p:cNvCxnSpPr/>
          <p:nvPr/>
        </p:nvCxnSpPr>
        <p:spPr>
          <a:xfrm>
            <a:off x="5470398" y="5391404"/>
            <a:ext cx="3166109" cy="0"/>
          </a:xfrm>
          <a:prstGeom prst="line">
            <a:avLst/>
          </a:prstGeom>
          <a:ln w="9525" cap="rnd">
            <a:solidFill>
              <a:srgbClr val="FFFFFF">
                <a:alpha val="35000"/>
              </a:srgbClr>
            </a:solidFill>
            <a:prstDash val="solid"/>
            <a:round/>
          </a:ln>
        </p:spPr>
      </p:cxnSp>
      <p:pic>
        <p:nvPicPr>
          <p:cNvPr id="7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0398" y="5718556"/>
            <a:ext cx="163576" cy="163576"/>
          </a:xfrm>
          <a:prstGeom prst="rect">
            <a:avLst/>
          </a:prstGeom>
        </p:spPr>
      </p:pic>
      <p:sp>
        <p:nvSpPr>
          <p:cNvPr id="76" name="Bullet 76"/>
          <p:cNvSpPr txBox="1"/>
          <p:nvPr/>
        </p:nvSpPr>
        <p:spPr>
          <a:xfrm>
            <a:off x="5816854" y="5665724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TMS and fleet devices</a:t>
            </a:r>
          </a:p>
        </p:txBody>
      </p:sp>
      <p:pic>
        <p:nvPicPr>
          <p:cNvPr id="77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0398" y="6143244"/>
            <a:ext cx="163576" cy="163576"/>
          </a:xfrm>
          <a:prstGeom prst="rect">
            <a:avLst/>
          </a:prstGeom>
        </p:spPr>
      </p:pic>
      <p:sp>
        <p:nvSpPr>
          <p:cNvPr id="78" name="Bullet 78"/>
          <p:cNvSpPr txBox="1"/>
          <p:nvPr/>
        </p:nvSpPr>
        <p:spPr>
          <a:xfrm>
            <a:off x="5816854" y="6090412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WMS and HAZ</a:t>
            </a:r>
          </a:p>
        </p:txBody>
      </p:sp>
      <p:pic>
        <p:nvPicPr>
          <p:cNvPr id="79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0398" y="6567931"/>
            <a:ext cx="163576" cy="163576"/>
          </a:xfrm>
          <a:prstGeom prst="rect">
            <a:avLst/>
          </a:prstGeom>
        </p:spPr>
      </p:pic>
      <p:sp>
        <p:nvSpPr>
          <p:cNvPr id="80" name="Bullet 80"/>
          <p:cNvSpPr txBox="1"/>
          <p:nvPr/>
        </p:nvSpPr>
        <p:spPr>
          <a:xfrm>
            <a:off x="5816854" y="6515100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Check-in, ADAS and DSM</a:t>
            </a:r>
          </a:p>
        </p:txBody>
      </p:sp>
      <p:pic>
        <p:nvPicPr>
          <p:cNvPr id="8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0398" y="6992619"/>
            <a:ext cx="163576" cy="163576"/>
          </a:xfrm>
          <a:prstGeom prst="rect">
            <a:avLst/>
          </a:prstGeom>
        </p:spPr>
      </p:pic>
      <p:sp>
        <p:nvSpPr>
          <p:cNvPr id="82" name="Bullet 82"/>
          <p:cNvSpPr txBox="1"/>
          <p:nvPr/>
        </p:nvSpPr>
        <p:spPr>
          <a:xfrm>
            <a:off x="5816854" y="6939788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Distribution (DMS)</a:t>
            </a:r>
          </a:p>
        </p:txBody>
      </p:sp>
      <p:sp>
        <p:nvSpPr>
          <p:cNvPr id="83" name="Card 83"/>
          <p:cNvSpPr/>
          <p:nvPr/>
        </p:nvSpPr>
        <p:spPr>
          <a:xfrm>
            <a:off x="9276588" y="3288284"/>
            <a:ext cx="3897630" cy="4441952"/>
          </a:xfrm>
          <a:prstGeom prst="roundRect">
            <a:avLst>
              <a:gd name="adj" fmla="val 234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84" name="Status 84"/>
          <p:cNvSpPr/>
          <p:nvPr/>
        </p:nvSpPr>
        <p:spPr>
          <a:xfrm>
            <a:off x="9642348" y="3654044"/>
            <a:ext cx="132695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1" spc="10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SQUAD 3</a:t>
            </a:r>
          </a:p>
        </p:txBody>
      </p:sp>
      <p:sp>
        <p:nvSpPr>
          <p:cNvPr id="85" name="Col head 85"/>
          <p:cNvSpPr txBox="1"/>
          <p:nvPr/>
        </p:nvSpPr>
        <p:spPr>
          <a:xfrm>
            <a:off x="9642348" y="4248404"/>
            <a:ext cx="325755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Plants</a:t>
            </a:r>
          </a:p>
        </p:txBody>
      </p:sp>
      <p:sp>
        <p:nvSpPr>
          <p:cNvPr id="86" name="Col sub 86"/>
          <p:cNvSpPr txBox="1"/>
          <p:nvPr/>
        </p:nvSpPr>
        <p:spPr>
          <a:xfrm>
            <a:off x="9642348" y="4824476"/>
            <a:ext cx="325755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7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Rodame and Roasi</a:t>
            </a:r>
          </a:p>
        </p:txBody>
      </p:sp>
      <p:cxnSp>
        <p:nvCxnSpPr>
          <p:cNvPr id="87" name="Rule 87"/>
          <p:cNvCxnSpPr/>
          <p:nvPr/>
        </p:nvCxnSpPr>
        <p:spPr>
          <a:xfrm>
            <a:off x="9642348" y="5391404"/>
            <a:ext cx="3166109" cy="0"/>
          </a:xfrm>
          <a:prstGeom prst="line">
            <a:avLst/>
          </a:prstGeom>
          <a:ln w="9525" cap="rnd">
            <a:solidFill>
              <a:srgbClr val="FFFFFF">
                <a:alpha val="35000"/>
              </a:srgbClr>
            </a:solidFill>
            <a:prstDash val="solid"/>
            <a:round/>
          </a:ln>
        </p:spPr>
      </p:cxnSp>
      <p:pic>
        <p:nvPicPr>
          <p:cNvPr id="88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2348" y="5718556"/>
            <a:ext cx="163576" cy="163576"/>
          </a:xfrm>
          <a:prstGeom prst="rect">
            <a:avLst/>
          </a:prstGeom>
        </p:spPr>
      </p:pic>
      <p:sp>
        <p:nvSpPr>
          <p:cNvPr id="89" name="Bullet 89"/>
          <p:cNvSpPr txBox="1"/>
          <p:nvPr/>
        </p:nvSpPr>
        <p:spPr>
          <a:xfrm>
            <a:off x="9988804" y="5665724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MES and EAM</a:t>
            </a:r>
          </a:p>
        </p:txBody>
      </p:sp>
      <p:pic>
        <p:nvPicPr>
          <p:cNvPr id="9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2348" y="6143244"/>
            <a:ext cx="163576" cy="163576"/>
          </a:xfrm>
          <a:prstGeom prst="rect">
            <a:avLst/>
          </a:prstGeom>
        </p:spPr>
      </p:pic>
      <p:sp>
        <p:nvSpPr>
          <p:cNvPr id="91" name="Bullet 91"/>
          <p:cNvSpPr txBox="1"/>
          <p:nvPr/>
        </p:nvSpPr>
        <p:spPr>
          <a:xfrm>
            <a:off x="9988804" y="6090412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QC, BPF and MRP</a:t>
            </a:r>
          </a:p>
        </p:txBody>
      </p:sp>
      <p:pic>
        <p:nvPicPr>
          <p:cNvPr id="9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2348" y="6567931"/>
            <a:ext cx="163576" cy="163576"/>
          </a:xfrm>
          <a:prstGeom prst="rect">
            <a:avLst/>
          </a:prstGeom>
        </p:spPr>
      </p:pic>
      <p:sp>
        <p:nvSpPr>
          <p:cNvPr id="93" name="Bullet 93"/>
          <p:cNvSpPr txBox="1"/>
          <p:nvPr/>
        </p:nvSpPr>
        <p:spPr>
          <a:xfrm>
            <a:off x="9988804" y="6515100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Tank farm and process</a:t>
            </a:r>
          </a:p>
        </p:txBody>
      </p:sp>
      <p:pic>
        <p:nvPicPr>
          <p:cNvPr id="9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2348" y="6992619"/>
            <a:ext cx="163576" cy="163576"/>
          </a:xfrm>
          <a:prstGeom prst="rect">
            <a:avLst/>
          </a:prstGeom>
        </p:spPr>
      </p:pic>
      <p:sp>
        <p:nvSpPr>
          <p:cNvPr id="95" name="Bullet 95"/>
          <p:cNvSpPr txBox="1"/>
          <p:nvPr/>
        </p:nvSpPr>
        <p:spPr>
          <a:xfrm>
            <a:off x="9988804" y="6939788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Genealogy and recall</a:t>
            </a:r>
          </a:p>
        </p:txBody>
      </p:sp>
      <p:sp>
        <p:nvSpPr>
          <p:cNvPr id="96" name="Card 96"/>
          <p:cNvSpPr/>
          <p:nvPr/>
        </p:nvSpPr>
        <p:spPr>
          <a:xfrm>
            <a:off x="13448538" y="3288284"/>
            <a:ext cx="3897630" cy="4441952"/>
          </a:xfrm>
          <a:prstGeom prst="roundRect">
            <a:avLst>
              <a:gd name="adj" fmla="val 2346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97" name="Status 97"/>
          <p:cNvSpPr/>
          <p:nvPr/>
        </p:nvSpPr>
        <p:spPr>
          <a:xfrm>
            <a:off x="13814298" y="3654044"/>
            <a:ext cx="132958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150" b="1" spc="10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SQUAD 4</a:t>
            </a:r>
          </a:p>
        </p:txBody>
      </p:sp>
      <p:sp>
        <p:nvSpPr>
          <p:cNvPr id="98" name="Col head 98"/>
          <p:cNvSpPr txBox="1"/>
          <p:nvPr/>
        </p:nvSpPr>
        <p:spPr>
          <a:xfrm>
            <a:off x="13814298" y="4248404"/>
            <a:ext cx="325755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200"/>
              </a:lnSpc>
            </a:pPr>
            <a:r>
              <a:rPr lang="en-US" sz="30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Business</a:t>
            </a:r>
          </a:p>
        </p:txBody>
      </p:sp>
      <p:sp>
        <p:nvSpPr>
          <p:cNvPr id="99" name="Col sub 99"/>
          <p:cNvSpPr txBox="1"/>
          <p:nvPr/>
        </p:nvSpPr>
        <p:spPr>
          <a:xfrm>
            <a:off x="13814298" y="4824476"/>
            <a:ext cx="325755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7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Shared services</a:t>
            </a:r>
          </a:p>
        </p:txBody>
      </p:sp>
      <p:cxnSp>
        <p:nvCxnSpPr>
          <p:cNvPr id="100" name="Rule 100"/>
          <p:cNvCxnSpPr/>
          <p:nvPr/>
        </p:nvCxnSpPr>
        <p:spPr>
          <a:xfrm>
            <a:off x="13814298" y="5391404"/>
            <a:ext cx="3166110" cy="0"/>
          </a:xfrm>
          <a:prstGeom prst="line">
            <a:avLst/>
          </a:prstGeom>
          <a:ln w="9525" cap="rnd">
            <a:solidFill>
              <a:srgbClr val="FFFFFF">
                <a:alpha val="35000"/>
              </a:srgbClr>
            </a:solidFill>
            <a:prstDash val="solid"/>
            <a:round/>
          </a:ln>
        </p:spPr>
      </p:cxnSp>
      <p:pic>
        <p:nvPicPr>
          <p:cNvPr id="10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4298" y="5718556"/>
            <a:ext cx="163576" cy="163576"/>
          </a:xfrm>
          <a:prstGeom prst="rect">
            <a:avLst/>
          </a:prstGeom>
        </p:spPr>
      </p:pic>
      <p:sp>
        <p:nvSpPr>
          <p:cNvPr id="102" name="Bullet 102"/>
          <p:cNvSpPr txBox="1"/>
          <p:nvPr/>
        </p:nvSpPr>
        <p:spPr>
          <a:xfrm>
            <a:off x="14160754" y="5665724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Finance and accounting</a:t>
            </a:r>
          </a:p>
        </p:txBody>
      </p:sp>
      <p:pic>
        <p:nvPicPr>
          <p:cNvPr id="10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4298" y="6143244"/>
            <a:ext cx="163576" cy="163576"/>
          </a:xfrm>
          <a:prstGeom prst="rect">
            <a:avLst/>
          </a:prstGeom>
        </p:spPr>
      </p:pic>
      <p:sp>
        <p:nvSpPr>
          <p:cNvPr id="104" name="Bullet 104"/>
          <p:cNvSpPr txBox="1"/>
          <p:nvPr/>
        </p:nvSpPr>
        <p:spPr>
          <a:xfrm>
            <a:off x="14160754" y="6090412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HRIS and ESS</a:t>
            </a:r>
          </a:p>
        </p:txBody>
      </p:sp>
      <p:pic>
        <p:nvPicPr>
          <p:cNvPr id="10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4298" y="6567931"/>
            <a:ext cx="163576" cy="163576"/>
          </a:xfrm>
          <a:prstGeom prst="rect">
            <a:avLst/>
          </a:prstGeom>
        </p:spPr>
      </p:pic>
      <p:sp>
        <p:nvSpPr>
          <p:cNvPr id="106" name="Bullet 106"/>
          <p:cNvSpPr txBox="1"/>
          <p:nvPr/>
        </p:nvSpPr>
        <p:spPr>
          <a:xfrm>
            <a:off x="14160754" y="6515100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SHE / K3</a:t>
            </a:r>
          </a:p>
        </p:txBody>
      </p:sp>
      <p:pic>
        <p:nvPicPr>
          <p:cNvPr id="107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4298" y="6992619"/>
            <a:ext cx="163576" cy="163576"/>
          </a:xfrm>
          <a:prstGeom prst="rect">
            <a:avLst/>
          </a:prstGeom>
        </p:spPr>
      </p:pic>
      <p:sp>
        <p:nvSpPr>
          <p:cNvPr id="108" name="Bullet 108"/>
          <p:cNvSpPr txBox="1"/>
          <p:nvPr/>
        </p:nvSpPr>
        <p:spPr>
          <a:xfrm>
            <a:off x="14160754" y="6939788"/>
            <a:ext cx="2911094" cy="2783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4"/>
              </a:lnSpc>
            </a:pPr>
            <a:r>
              <a:rPr lang="en-US" sz="14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Procurement and inventory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-4294433"/>
            <a:ext cx="18288000" cy="18333835"/>
          </a:xfrm>
          <a:custGeom>
            <a:avLst/>
            <a:gdLst/>
            <a:ahLst/>
            <a:cxnLst/>
            <a:rect r="r" b="b" t="t" l="l"/>
            <a:pathLst>
              <a:path h="18333835" w="18288000">
                <a:moveTo>
                  <a:pt x="0" y="0"/>
                </a:moveTo>
                <a:lnTo>
                  <a:pt x="18288000" y="0"/>
                </a:lnTo>
                <a:lnTo>
                  <a:pt x="18288000" y="18333835"/>
                </a:lnTo>
                <a:lnTo>
                  <a:pt x="0" y="18333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6068922" y="-2248063"/>
            <a:ext cx="6412290" cy="18550134"/>
            <a:chOff x="0" y="0"/>
            <a:chExt cx="2087269" cy="60382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7269" cy="6038267"/>
            </a:xfrm>
            <a:custGeom>
              <a:avLst/>
              <a:gdLst/>
              <a:ahLst/>
              <a:cxnLst/>
              <a:rect r="r" b="b" t="t" l="l"/>
              <a:pathLst>
                <a:path h="6038267" w="2087269">
                  <a:moveTo>
                    <a:pt x="0" y="0"/>
                  </a:moveTo>
                  <a:lnTo>
                    <a:pt x="2087269" y="0"/>
                  </a:lnTo>
                  <a:lnTo>
                    <a:pt x="2087269" y="6038267"/>
                  </a:lnTo>
                  <a:lnTo>
                    <a:pt x="0" y="603826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87269" cy="6009692"/>
            </a:xfrm>
            <a:prstGeom prst="rect">
              <a:avLst/>
            </a:prstGeom>
          </p:spPr>
          <p:txBody>
            <a:bodyPr anchor="ctr" rtlCol="false" tIns="41103" lIns="41103" bIns="41103" rIns="41103"/>
            <a:lstStyle/>
            <a:p>
              <a:pPr algn="ctr">
                <a:lnSpc>
                  <a:spcPts val="179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942412">
            <a:off x="5380700" y="-4053675"/>
            <a:ext cx="19024252" cy="19024252"/>
          </a:xfrm>
          <a:custGeom>
            <a:avLst/>
            <a:gdLst/>
            <a:ahLst/>
            <a:cxnLst/>
            <a:rect r="r" b="b" t="t" l="l"/>
            <a:pathLst>
              <a:path h="19024252" w="19024252">
                <a:moveTo>
                  <a:pt x="0" y="0"/>
                </a:moveTo>
                <a:lnTo>
                  <a:pt x="19024252" y="0"/>
                </a:lnTo>
                <a:lnTo>
                  <a:pt x="19024252" y="19024251"/>
                </a:lnTo>
                <a:lnTo>
                  <a:pt x="0" y="190242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747035"/>
            <a:ext cx="2237830" cy="699985"/>
          </a:xfrm>
          <a:custGeom>
            <a:avLst/>
            <a:gdLst/>
            <a:ahLst/>
            <a:cxnLst/>
            <a:rect r="r" b="b" t="t" l="l"/>
            <a:pathLst>
              <a:path h="699985" w="2237830">
                <a:moveTo>
                  <a:pt x="0" y="0"/>
                </a:moveTo>
                <a:lnTo>
                  <a:pt x="2237830" y="0"/>
                </a:lnTo>
                <a:lnTo>
                  <a:pt x="2237830" y="699985"/>
                </a:lnTo>
                <a:lnTo>
                  <a:pt x="0" y="6999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19050" cap="rnd">
              <a:solidFill>
                <a:srgbClr val="FEFEFE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19050" cap="rnd">
              <a:solidFill>
                <a:srgbClr val="FEFEFE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470"/>
                  </a:srgbClr>
                </a:gs>
                <a:gs pos="50000">
                  <a:srgbClr val="FFFFFF">
                    <a:alpha val="8820"/>
                  </a:srgbClr>
                </a:gs>
                <a:gs pos="100000">
                  <a:srgbClr val="FFFFFF">
                    <a:alpha val="21000"/>
                  </a:srgbClr>
                </a:gs>
              </a:gsLst>
              <a:lin ang="5400000"/>
            </a:gradFill>
            <a:ln w="19050" cap="rnd">
              <a:solidFill>
                <a:srgbClr val="FEFEFE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470"/>
                  </a:srgbClr>
                </a:gs>
                <a:gs pos="50000">
                  <a:srgbClr val="FFFFFF">
                    <a:alpha val="8820"/>
                  </a:srgbClr>
                </a:gs>
                <a:gs pos="100000">
                  <a:srgbClr val="FFFFFF">
                    <a:alpha val="21000"/>
                  </a:srgbClr>
                </a:gs>
              </a:gsLst>
              <a:lin ang="5400000"/>
            </a:gradFill>
            <a:ln w="19050" cap="rnd">
              <a:solidFill>
                <a:srgbClr val="FEFEFE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closing_divider" id="28"/>
          <p:cNvSpPr/>
          <p:nvPr/>
        </p:nvSpPr>
        <p:spPr>
          <a:xfrm flipV="true">
            <a:off x="13224347" y="7008602"/>
            <a:ext cx="0" cy="1860749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28700" y="8634350"/>
            <a:ext cx="2237830" cy="6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22"/>
              </a:lnSpc>
              <a:spcBef>
                <a:spcPct val="0"/>
              </a:spcBef>
            </a:pPr>
            <a:r>
              <a:rPr lang="en-US" b="true" sz="1622" spc="-8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360° Digital Transformation Culture Company</a:t>
            </a:r>
          </a:p>
        </p:txBody>
      </p:sp>
      <p:sp>
        <p:nvSpPr>
          <p:cNvPr name="closing_head" id="30"/>
          <p:cNvSpPr txBox="true"/>
          <p:nvPr/>
        </p:nvSpPr>
        <p:spPr>
          <a:xfrm rot="0">
            <a:off x="7176023" y="6898118"/>
            <a:ext cx="2536482" cy="38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b="true" sz="2068" spc="-10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Make IT Happen.</a:t>
            </a:r>
          </a:p>
        </p:txBody>
      </p:sp>
      <p:sp>
        <p:nvSpPr>
          <p:cNvPr name="closing_msg" id="31"/>
          <p:cNvSpPr txBox="true"/>
          <p:nvPr/>
        </p:nvSpPr>
        <p:spPr>
          <a:xfrm rot="0">
            <a:off x="7176023" y="7498079"/>
            <a:ext cx="265176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b="true" sz="1350" spc="-7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A working walkthrough of the whole group, ready for review with Satona.</a:t>
            </a:r>
          </a:p>
        </p:txBody>
      </p:sp>
      <p:sp>
        <p:nvSpPr>
          <p:cNvPr id="32" name="Label 32"/>
          <p:cNvSpPr txBox="1"/>
          <p:nvPr/>
        </p:nvSpPr>
        <p:spPr>
          <a:xfrm>
            <a:off x="10963656" y="700430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00"/>
              </a:lnSpc>
            </a:pPr>
            <a:r>
              <a:rPr lang="en-US" sz="1100" b="1" spc="12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TRY IT WITH</a:t>
            </a:r>
          </a:p>
        </p:txBody>
      </p:sp>
      <p:pic>
        <p:nvPicPr>
          <p:cNvPr id="33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7429500"/>
            <a:ext cx="173736" cy="173736"/>
          </a:xfrm>
          <a:prstGeom prst="rect">
            <a:avLst/>
          </a:prstGeom>
        </p:spPr>
      </p:pic>
      <p:sp>
        <p:nvSpPr>
          <p:cNvPr id="34" name="Item 34"/>
          <p:cNvSpPr txBox="1"/>
          <p:nvPr/>
        </p:nvSpPr>
        <p:spPr>
          <a:xfrm>
            <a:off x="11256264" y="7388352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Any of 24 personas</a:t>
            </a:r>
          </a:p>
        </p:txBody>
      </p:sp>
      <p:pic>
        <p:nvPicPr>
          <p:cNvPr id="35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7840979"/>
            <a:ext cx="173736" cy="173736"/>
          </a:xfrm>
          <a:prstGeom prst="rect">
            <a:avLst/>
          </a:prstGeom>
        </p:spPr>
      </p:pic>
      <p:sp>
        <p:nvSpPr>
          <p:cNvPr id="36" name="Item 36"/>
          <p:cNvSpPr txBox="1"/>
          <p:nvPr/>
        </p:nvSpPr>
        <p:spPr>
          <a:xfrm>
            <a:off x="11256264" y="7799831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Cmd+K search</a:t>
            </a:r>
          </a:p>
        </p:txBody>
      </p:sp>
      <p:pic>
        <p:nvPicPr>
          <p:cNvPr id="37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8252459"/>
            <a:ext cx="173736" cy="173736"/>
          </a:xfrm>
          <a:prstGeom prst="rect">
            <a:avLst/>
          </a:prstGeom>
        </p:spPr>
      </p:pic>
      <p:sp>
        <p:nvSpPr>
          <p:cNvPr id="38" name="Item 38"/>
          <p:cNvSpPr txBox="1"/>
          <p:nvPr/>
        </p:nvSpPr>
        <p:spPr>
          <a:xfrm>
            <a:off x="11256264" y="8211311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Click any chart</a:t>
            </a:r>
          </a:p>
        </p:txBody>
      </p:sp>
      <p:sp>
        <p:nvSpPr>
          <p:cNvPr id="39" name="Label 39"/>
          <p:cNvSpPr txBox="1"/>
          <p:nvPr/>
        </p:nvSpPr>
        <p:spPr>
          <a:xfrm>
            <a:off x="13651992" y="700430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00"/>
              </a:lnSpc>
            </a:pPr>
            <a:r>
              <a:rPr lang="en-US" sz="1100" b="1" spc="12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REPOSITORY</a:t>
            </a:r>
          </a:p>
        </p:txBody>
      </p:sp>
      <p:sp>
        <p:nvSpPr>
          <p:cNvPr id="40" name="Value 40"/>
          <p:cNvSpPr txBox="1"/>
          <p:nvPr/>
        </p:nvSpPr>
        <p:spPr>
          <a:xfrm>
            <a:off x="13651992" y="733348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github.com/syabanf/satona-erp</a:t>
            </a:r>
          </a:p>
        </p:txBody>
      </p:sp>
      <p:sp>
        <p:nvSpPr>
          <p:cNvPr id="41" name="Label 41"/>
          <p:cNvSpPr txBox="1"/>
          <p:nvPr/>
        </p:nvSpPr>
        <p:spPr>
          <a:xfrm>
            <a:off x="13651992" y="7991856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00"/>
              </a:lnSpc>
            </a:pPr>
            <a:r>
              <a:rPr lang="en-US" sz="1100" b="1" spc="12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WEB</a:t>
            </a:r>
          </a:p>
        </p:txBody>
      </p:sp>
      <p:sp>
        <p:nvSpPr>
          <p:cNvPr id="42" name="Value 42"/>
          <p:cNvSpPr txBox="1"/>
          <p:nvPr/>
        </p:nvSpPr>
        <p:spPr>
          <a:xfrm>
            <a:off x="13651992" y="83210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www.wit.id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DAHSgwKjGq8</dc:identifier>
  <dcterms:modified xsi:type="dcterms:W3CDTF">2011-08-01T06:04:30Z</dcterms:modified>
  <cp:revision>1</cp:revision>
  <dc:title>Satona ERP</dc:title>
</cp:coreProperties>
</file>